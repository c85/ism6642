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cover clustering — an unsupervised technique for discovering structure in unlabeled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for today's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clustering and unsupervised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paradigms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theory of 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cluster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clustering model at a high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clustering from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clustering shows up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families of clustering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 measure closeness — Euclidean.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 to m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Centroid = mean of feature values in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k-means as an exclusive partitioning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Initialize — pick 3 random centers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— each point → nearest center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— recompute centers as means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 — with new centers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— recompute centers as means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 — with new centers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— recompute centers as means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 — with new centers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— small shifts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 — mostly stable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— small shifts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 — mostly stable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— negligible movement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Reassign — no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Converged — assignments stable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function of k-means: within-cluster sum of squares.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Elbow method — pick k where marginal improvement drops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method and gap statistic.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mall customer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motivation for segmenting mall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elbow and silhouette diagnostics on the mall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sklearn KMeans with k=5.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profiles from the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the two variables you find most informative.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case study — country risk 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slice of the raw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rows after Z-score standardization.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corruption index — highly correlated with legal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within-cluster sum of squares as k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confirms k=3.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 the three country risk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73967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6642 · MACHINE LEARNING FOR BUSINESS APPLICATIONS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431988" y="1143000"/>
            <a:ext cx="167476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· 08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33500" y="1630710"/>
            <a:ext cx="171831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FOUR — UNSUPERVISED METHODS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33500" y="2249835"/>
            <a:ext cx="16089630" cy="425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0" spc="-495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</a:t>
            </a:r>
            <a:pPr algn="l" indent="0" marL="0">
              <a:lnSpc>
                <a:spcPct val="95000"/>
              </a:lnSpc>
              <a:buNone/>
            </a:pPr>
            <a:r>
              <a:rPr lang="en-US" sz="16500" i="1" spc="-495" kern="0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Analysis.</a:t>
            </a:r>
            <a:endParaRPr lang="en-US" sz="16500" dirty="0"/>
          </a:p>
        </p:txBody>
      </p:sp>
      <p:sp>
        <p:nvSpPr>
          <p:cNvPr id="6" name="Shape 4"/>
          <p:cNvSpPr/>
          <p:nvPr/>
        </p:nvSpPr>
        <p:spPr>
          <a:xfrm>
            <a:off x="1333500" y="7040910"/>
            <a:ext cx="1714500" cy="95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431435"/>
            <a:ext cx="8829675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structure in data without being told what to look for.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8591550"/>
            <a:ext cx="31093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33500" y="8820150"/>
            <a:ext cx="31093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Hemang Subramanian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314390" y="8953500"/>
            <a:ext cx="716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47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3771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333500" y="1314450"/>
            <a:ext cx="3771900" cy="1033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50" spc="-165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Contents.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333500" y="2881313"/>
            <a:ext cx="274701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movements from theory to a working example.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05500" y="952500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6" name="Text 4"/>
          <p:cNvSpPr/>
          <p:nvPr/>
        </p:nvSpPr>
        <p:spPr>
          <a:xfrm>
            <a:off x="5905500" y="1285875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67500" y="1171575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clustering matters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05500" y="1704975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0" y="2038350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67500" y="1924050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vs. unsupervised learning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905500" y="2457450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5905500" y="2790825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67500" y="2676525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of clustering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905500" y="3209925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5905500" y="354330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67500" y="3429000"/>
            <a:ext cx="11315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clusters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905500" y="4010025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0" y="434340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67500" y="4229100"/>
            <a:ext cx="11315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— distance &amp; optimal </a:t>
            </a:r>
            <a:pPr algn="l" indent="0" marL="0">
              <a:buNone/>
            </a:pPr>
            <a:r>
              <a:rPr lang="en-US" sz="2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905500" y="4810125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5905500" y="5143500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67500" y="5029200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 customer dataset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905500" y="5562600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5905500" y="5895975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67500" y="5781675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Silhouette &amp; elbow methods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905500" y="7048500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7" name="Shape 25"/>
          <p:cNvSpPr/>
          <p:nvPr/>
        </p:nvSpPr>
        <p:spPr>
          <a:xfrm>
            <a:off x="5905500" y="6315075"/>
            <a:ext cx="11049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8" name="Text 26"/>
          <p:cNvSpPr/>
          <p:nvPr/>
        </p:nvSpPr>
        <p:spPr>
          <a:xfrm>
            <a:off x="5905500" y="6648450"/>
            <a:ext cx="838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67500" y="6534150"/>
            <a:ext cx="11315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&amp; country-risk case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0594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FOUNDATIONS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933575"/>
            <a:ext cx="13735050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</a:t>
            </a:r>
            <a:pPr algn="l" indent="0" marL="0">
              <a:lnSpc>
                <a:spcPct val="100000"/>
              </a:lnSpc>
              <a:buNone/>
            </a:pPr>
            <a:r>
              <a:rPr lang="en-US" sz="6300" i="1" spc="-126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</a:t>
            </a:r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algn="l" indent="0" marL="0">
              <a:lnSpc>
                <a:spcPct val="100000"/>
              </a:lnSpc>
              <a:buNone/>
            </a:pPr>
            <a:r>
              <a:rPr lang="en-US" sz="6300" i="1" spc="-126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 </a:t>
            </a:r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mean?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333500" y="4276725"/>
            <a:ext cx="817245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95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DEFINITION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33500" y="4646712"/>
            <a:ext cx="765238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Grouping observations into classes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information about class memberships.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3500" y="5818287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unsupervised learning, we are not trying to predict anything.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0" y="4276725"/>
            <a:ext cx="817245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95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PURPOSE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525000" y="4646712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techniques let us discover patterns and meaningful groups when we have no idea what the output should look like.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0" y="5780187"/>
            <a:ext cx="7652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identify structure by clustering observations based on relationships between multiple variables.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33500" y="91630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labels · no targets · structure only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0594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FOUNDATIONS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vs. unsupervised.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1333500" y="3114675"/>
            <a:ext cx="7524750" cy="7055941"/>
          </a:xfrm>
          <a:prstGeom prst="roundRect">
            <a:avLst>
              <a:gd name="adj" fmla="val 270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3686175"/>
            <a:ext cx="70199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 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05000" y="4010025"/>
            <a:ext cx="70199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Supervised.</a:t>
            </a:r>
            <a:endParaRPr lang="en-US" sz="4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00" y="4924425"/>
            <a:ext cx="6381750" cy="3190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05000" y="8420100"/>
            <a:ext cx="657320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4EFE6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exist. The model learns a mapping from features to a known target.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905000" y="9427666"/>
            <a:ext cx="65732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· regress · predict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429750" y="3114675"/>
            <a:ext cx="7524750" cy="7055941"/>
          </a:xfrm>
          <a:prstGeom prst="roundRect">
            <a:avLst>
              <a:gd name="adj" fmla="val 270"/>
            </a:avLst>
          </a:prstGeom>
          <a:solidFill>
            <a:srgbClr val="F4EFE6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10775" y="3695700"/>
            <a:ext cx="69989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 B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010775" y="4019550"/>
            <a:ext cx="69989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Unsupervised.</a:t>
            </a:r>
            <a:endParaRPr lang="en-US" sz="4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0775" y="4933950"/>
            <a:ext cx="6362700" cy="3181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10775" y="8420100"/>
            <a:ext cx="655358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labels. The model discovers structure — clusters, densities, projections — on its own.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0010775" y="9418141"/>
            <a:ext cx="65535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· reduce · describe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33500" y="2333625"/>
            <a:ext cx="17183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9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33500" y="2914650"/>
            <a:ext cx="16089630" cy="449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500" spc="-585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</a:t>
            </a:r>
            <a:pPr algn="l" indent="0" marL="0">
              <a:lnSpc>
                <a:spcPct val="90000"/>
              </a:lnSpc>
              <a:buNone/>
            </a:pPr>
            <a:r>
              <a:rPr lang="en-US" sz="19500" i="1" spc="-585" kern="0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pPr algn="l" indent="0" marL="0">
              <a:lnSpc>
                <a:spcPct val="90000"/>
              </a:lnSpc>
              <a:buNone/>
            </a:pPr>
            <a:r>
              <a:rPr lang="en-US" sz="19500" spc="-585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taxonomy.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1333500" y="8181975"/>
            <a:ext cx="68675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F4EFE6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cluster is, what makes one good, and the three ways they can be organized.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314390" y="8763000"/>
            <a:ext cx="716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EFE6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487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cluster analysis?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3324225"/>
            <a:ext cx="880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 CLUSTER IS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33500" y="3600450"/>
            <a:ext cx="8241030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group of data objects — similar to each other within, dissimilar across groups.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33500" y="4817566"/>
            <a:ext cx="880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CLUSTER ANALYSIS IS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333500" y="5093791"/>
            <a:ext cx="824103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 of organizing data objects into clusters. A form of unsupervised classification — no predefined categories exist.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" y="6183213"/>
            <a:ext cx="880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COMMON USES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363980" y="6459438"/>
            <a:ext cx="80467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Independently, to understand data distribution</a:t>
            </a:r>
            <a:endParaRPr lang="en-US" sz="1800" dirty="0"/>
          </a:p>
          <a:p>
            <a:pPr algn="l" marL="160020" indent="-160020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preliminary step for other algorithms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87000" y="3324225"/>
            <a:ext cx="6667500" cy="6667500"/>
          </a:xfrm>
          <a:prstGeom prst="roundRect">
            <a:avLst>
              <a:gd name="adj" fmla="val 286"/>
            </a:avLst>
          </a:prstGeom>
          <a:solidFill>
            <a:srgbClr val="1C1C1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0" y="3705225"/>
            <a:ext cx="59055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487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clustering model.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3038475"/>
            <a:ext cx="125730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it must do.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33500" y="3943350"/>
            <a:ext cx="4953000" cy="19050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267200"/>
            <a:ext cx="5448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333500" y="5191125"/>
            <a:ext cx="5448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similarity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33500" y="5724525"/>
            <a:ext cx="510159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a way to compare items in a collection of unlabelled data — usually via a distance metric.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667500" y="3943350"/>
            <a:ext cx="4953000" cy="19050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0" y="4267200"/>
            <a:ext cx="5448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6667500" y="5191125"/>
            <a:ext cx="5448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groups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667500" y="5724525"/>
            <a:ext cx="510159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groupings that satisfy a quality criterion — for instance, maximizing similarity within each cluster.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001500" y="3943350"/>
            <a:ext cx="4953000" cy="19050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0" y="4267200"/>
            <a:ext cx="5448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2001500" y="5191125"/>
            <a:ext cx="5448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 a summary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001500" y="5724525"/>
            <a:ext cx="510159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as a method to surface an informative, human-readable summary of the data.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487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vs. classification.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5332214"/>
            <a:ext cx="803591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i="1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333500" y="6665714"/>
            <a:ext cx="7524539" cy="889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when the groups have 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</a:t>
            </a:r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been identified beforehand.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00877" y="3514725"/>
            <a:ext cx="9525" cy="581977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0172402" y="5346502"/>
            <a:ext cx="746030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10172402" y="6680002"/>
            <a:ext cx="6985561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when categories are already established — the goal is to place a new item accurately.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487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applications.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2981325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 of the places clustering earns its keep.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3857625"/>
            <a:ext cx="3733800" cy="2821186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4200525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676400" y="5242620"/>
            <a:ext cx="3139440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76400" y="6145411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promotions from behavior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95900" y="3857625"/>
            <a:ext cx="3733800" cy="2821186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38800" y="4200525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638800" y="5242620"/>
            <a:ext cx="3139440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&amp; risk grouping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638800" y="6145411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risk, asset baskets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58300" y="3857625"/>
            <a:ext cx="3733800" cy="2821186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4200525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BIOLOGY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601200" y="5242620"/>
            <a:ext cx="3139440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 expression profiles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01200" y="6145411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functional groups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220700" y="3857625"/>
            <a:ext cx="3733800" cy="2821186"/>
          </a:xfrm>
          <a:prstGeom prst="roundRect">
            <a:avLst>
              <a:gd name="adj" fmla="val 67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563600" y="4200525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3563600" y="5636865"/>
            <a:ext cx="335280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563600" y="6145411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Fraud, quality, sensor drift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33500" y="6907411"/>
            <a:ext cx="3733800" cy="2427089"/>
          </a:xfrm>
          <a:prstGeom prst="roundRect">
            <a:avLst>
              <a:gd name="adj" fmla="val 78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676400" y="7250311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676400" y="8292554"/>
            <a:ext cx="335280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Assortment planning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676400" y="8801100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archetypes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95900" y="6907411"/>
            <a:ext cx="3733800" cy="2427089"/>
          </a:xfrm>
          <a:prstGeom prst="roundRect">
            <a:avLst>
              <a:gd name="adj" fmla="val 78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638800" y="7250311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638800" y="8292554"/>
            <a:ext cx="335280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discovery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5638800" y="8801100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embeddings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58300" y="6907411"/>
            <a:ext cx="3733800" cy="2427089"/>
          </a:xfrm>
          <a:prstGeom prst="roundRect">
            <a:avLst>
              <a:gd name="adj" fmla="val 785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7250311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601200" y="8292554"/>
            <a:ext cx="335280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segmentation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9601200" y="8801100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&amp; superpixel groups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220700" y="6907411"/>
            <a:ext cx="3733800" cy="2427089"/>
          </a:xfrm>
          <a:prstGeom prst="roundRect">
            <a:avLst>
              <a:gd name="adj" fmla="val 785"/>
            </a:avLst>
          </a:prstGeom>
          <a:solidFill>
            <a:srgbClr val="1C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13563600" y="7250311"/>
            <a:ext cx="3352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3563600" y="8292554"/>
            <a:ext cx="3352800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compression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13563600" y="8801100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substitutes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487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·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techniques.</a:t>
            </a:r>
            <a:endParaRPr lang="en-US" sz="7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3324225"/>
            <a:ext cx="4953000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3500" y="6524625"/>
            <a:ext cx="5448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EXCLUSIVE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333500" y="6800850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partitioning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33500" y="7258050"/>
            <a:ext cx="510159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data point is assigned to a single, unique cluster. The most widely used method.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3324225"/>
            <a:ext cx="4953000" cy="297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67500" y="6524625"/>
            <a:ext cx="5448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OVERLAPPING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6667500" y="6800850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membership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667500" y="7258050"/>
            <a:ext cx="510159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Clusters can share points. A customer might be in both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high-profit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high-volume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6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01500" y="3324225"/>
            <a:ext cx="4953000" cy="297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01500" y="6524625"/>
            <a:ext cx="5448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HIERARCHICAL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2001500" y="6800850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clusters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2001500" y="7258050"/>
            <a:ext cx="510159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Smaller child clusters combine into larger parents — e.g. long-term vs. new high-value customers.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830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distance measure.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3038475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requires a way to measure distance.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5379690"/>
            <a:ext cx="7652385" cy="920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basic distance metric is the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Euclidean distance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straight-line distance between two points.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500" y="6642646"/>
            <a:ext cx="7429500" cy="1407765"/>
          </a:xfrm>
          <a:prstGeom prst="roundRect">
            <a:avLst>
              <a:gd name="adj" fmla="val 1353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1641158" y="7061746"/>
            <a:ext cx="681418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algn="ctr" indent="0" marL="0">
              <a:buNone/>
            </a:pPr>
            <a:r>
              <a:rPr lang="en-US" sz="3300" dirty="0">
                <a:solidFill>
                  <a:srgbClr val="F4EFE6"/>
                </a:solidFill>
                <a:highlight>
                  <a:srgbClr val="1C1C1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(P, Q) = √</a:t>
            </a:r>
            <a:pPr algn="ctr" indent="0" marL="0">
              <a:buNone/>
            </a:pPr>
            <a:r>
              <a:rPr lang="en-US" sz="33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(x</a:t>
            </a:r>
            <a:pPr algn="ctr" indent="0" marL="0">
              <a:buNone/>
            </a:pPr>
            <a:r>
              <a:rPr lang="en-US" sz="275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algn="ctr" indent="0" marL="0">
              <a:buNone/>
            </a:pPr>
            <a:r>
              <a:rPr lang="en-US" sz="33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−x</a:t>
            </a:r>
            <a:pPr algn="ctr" indent="0" marL="0">
              <a:buNone/>
            </a:pPr>
            <a:r>
              <a:rPr lang="en-US" sz="275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pPr algn="ctr" indent="0" marL="0">
              <a:buNone/>
            </a:pPr>
            <a:r>
              <a:rPr lang="en-US" sz="33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)² + (y</a:t>
            </a:r>
            <a:pPr algn="ctr" indent="0" marL="0">
              <a:buNone/>
            </a:pPr>
            <a:r>
              <a:rPr lang="en-US" sz="275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algn="ctr" indent="0" marL="0">
              <a:buNone/>
            </a:pPr>
            <a:r>
              <a:rPr lang="en-US" sz="33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−y</a:t>
            </a:r>
            <a:pPr algn="ctr" indent="0" marL="0">
              <a:buNone/>
            </a:pPr>
            <a:r>
              <a:rPr lang="en-US" sz="275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pPr algn="ctr" indent="0" marL="0">
              <a:buNone/>
            </a:pPr>
            <a:r>
              <a:rPr lang="en-US" sz="33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)²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33500" y="8279011"/>
            <a:ext cx="8172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3943350"/>
            <a:ext cx="74295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830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in </a:t>
            </a:r>
            <a:pPr algn="l" indent="0" marL="0">
              <a:lnSpc>
                <a:spcPct val="100000"/>
              </a:lnSpc>
              <a:buNone/>
            </a:pPr>
            <a:r>
              <a:rPr lang="en-US" sz="7200" i="1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</a:t>
            </a:r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dimensions.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3133725"/>
            <a:ext cx="125730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there are m features, we sum the squared differences across every feature j.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33500" y="3943350"/>
            <a:ext cx="15621000" cy="2417266"/>
          </a:xfrm>
          <a:prstGeom prst="roundRect">
            <a:avLst>
              <a:gd name="adj" fmla="val 788"/>
            </a:avLst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861185" y="4705350"/>
            <a:ext cx="14565630" cy="931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algn="ct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F4EFE6"/>
                </a:solidFill>
                <a:highlight>
                  <a:srgbClr val="1C1C1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(P, Q) = √ </a:t>
            </a:r>
            <a:pPr algn="ct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pPr algn="ctr" indent="0" marL="0">
              <a:lnSpc>
                <a:spcPct val="120000"/>
              </a:lnSpc>
              <a:buNone/>
            </a:pPr>
            <a:r>
              <a:rPr lang="en-US" sz="240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j=1</a:t>
            </a:r>
            <a:pPr algn="ctr" indent="0" marL="0">
              <a:lnSpc>
                <a:spcPct val="120000"/>
              </a:lnSpc>
              <a:buNone/>
            </a:pPr>
            <a:r>
              <a:rPr lang="en-US" sz="2400" baseline="3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</a:t>
            </a:r>
            <a:pPr algn="ct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 p</a:t>
            </a:r>
            <a:pPr algn="ctr" indent="0" marL="0">
              <a:lnSpc>
                <a:spcPct val="120000"/>
              </a:lnSpc>
              <a:buNone/>
            </a:pPr>
            <a:r>
              <a:rPr lang="en-US" sz="400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</a:t>
            </a:r>
            <a:pPr algn="ct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q</a:t>
            </a:r>
            <a:pPr algn="ctr" indent="0" marL="0">
              <a:lnSpc>
                <a:spcPct val="120000"/>
              </a:lnSpc>
              <a:buNone/>
            </a:pPr>
            <a:r>
              <a:rPr lang="en-US" sz="400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</a:t>
            </a:r>
            <a:pPr algn="ct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)²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33500" y="6970216"/>
            <a:ext cx="6578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buNone/>
            </a:pPr>
            <a:r>
              <a:rPr lang="en-US" sz="875" baseline="-4000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</a:t>
            </a:r>
            <a:pPr algn="l" indent="0" marL="0">
              <a:buNone/>
            </a:pPr>
            <a:r>
              <a:rPr lang="en-US" sz="875" baseline="-4000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33500" y="7206407"/>
            <a:ext cx="49491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values of the </a:t>
            </a:r>
            <a:pPr algn="l" indent="0" marL="0">
              <a:buNone/>
            </a:pPr>
            <a:r>
              <a:rPr lang="en-US" sz="1800" i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pPr algn="l" indent="0" marL="0">
              <a:buNone/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-th feature for points P and Q.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67500" y="6970216"/>
            <a:ext cx="1775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67500" y="7160716"/>
            <a:ext cx="54448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of features (dimensions of the feature space).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01500" y="6970216"/>
            <a:ext cx="177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01500" y="7160716"/>
            <a:ext cx="48916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 of squared differences across every feature.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" y="91630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1830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centers.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2428875"/>
            <a:ext cx="14668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centroid of a cluster is found by averaging the values of each feature over the points in that cluster.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095625"/>
            <a:ext cx="15621000" cy="51435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504950" y="3267075"/>
            <a:ext cx="19173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2803" y="3267075"/>
            <a:ext cx="21864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65937" y="3267075"/>
            <a:ext cx="21864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19071" y="3267075"/>
            <a:ext cx="21864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205" y="3267075"/>
            <a:ext cx="21864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392806" y="3267075"/>
            <a:ext cx="33902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DIST. TO CENTER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33500" y="41862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504950" y="3762375"/>
            <a:ext cx="191735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12803" y="3762375"/>
            <a:ext cx="2186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065937" y="3762375"/>
            <a:ext cx="2186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19071" y="3762375"/>
            <a:ext cx="2186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972205" y="3762375"/>
            <a:ext cx="21864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392806" y="3762375"/>
            <a:ext cx="339024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33500" y="47767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2" name="Text 20"/>
          <p:cNvSpPr/>
          <p:nvPr/>
        </p:nvSpPr>
        <p:spPr>
          <a:xfrm>
            <a:off x="1504950" y="4348163"/>
            <a:ext cx="1917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612803" y="43481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065937" y="43481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1.20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19071" y="43481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972205" y="43481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392806" y="4348163"/>
            <a:ext cx="3390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333500" y="53673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9" name="Text 27"/>
          <p:cNvSpPr/>
          <p:nvPr/>
        </p:nvSpPr>
        <p:spPr>
          <a:xfrm>
            <a:off x="1504950" y="4938713"/>
            <a:ext cx="1917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612803" y="493871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065937" y="493871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519071" y="493871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972205" y="493871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392806" y="4938713"/>
            <a:ext cx="3390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0.206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333500" y="59578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6" name="Text 34"/>
          <p:cNvSpPr/>
          <p:nvPr/>
        </p:nvSpPr>
        <p:spPr>
          <a:xfrm>
            <a:off x="1504950" y="5529263"/>
            <a:ext cx="1917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3612803" y="55292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065937" y="55292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519071" y="55292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972205" y="5529263"/>
            <a:ext cx="2186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3392806" y="5529263"/>
            <a:ext cx="3390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0.303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333500" y="6543675"/>
            <a:ext cx="15621000" cy="1905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3" name="Text 41"/>
          <p:cNvSpPr/>
          <p:nvPr/>
        </p:nvSpPr>
        <p:spPr>
          <a:xfrm>
            <a:off x="1504950" y="6119813"/>
            <a:ext cx="19173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3612803" y="6119813"/>
            <a:ext cx="21864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6065937" y="6119813"/>
            <a:ext cx="21864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519071" y="6119813"/>
            <a:ext cx="21864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0.37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972205" y="6119813"/>
            <a:ext cx="21864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0.27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392806" y="6119813"/>
            <a:ext cx="33902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0.137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333500" y="6562725"/>
            <a:ext cx="15621000" cy="676275"/>
          </a:xfrm>
          <a:prstGeom prst="rect">
            <a:avLst/>
          </a:prstGeom>
          <a:solidFill>
            <a:srgbClr val="E8DDC8"/>
          </a:solidFill>
          <a:ln/>
        </p:spPr>
      </p:sp>
      <p:sp>
        <p:nvSpPr>
          <p:cNvPr id="50" name="Text 48"/>
          <p:cNvSpPr/>
          <p:nvPr/>
        </p:nvSpPr>
        <p:spPr>
          <a:xfrm>
            <a:off x="1504950" y="6753225"/>
            <a:ext cx="19173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3612803" y="6753225"/>
            <a:ext cx="21864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0.914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6065937" y="6753225"/>
            <a:ext cx="21864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0.990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8519071" y="6753225"/>
            <a:ext cx="21864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0.316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0972205" y="6753225"/>
            <a:ext cx="21864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0.330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3392806" y="6753225"/>
            <a:ext cx="33902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333500" y="93535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830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i="1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clustering.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2943225"/>
            <a:ext cx="125730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for a fixed number of clusters, defined by proximity of data points to each other.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3752850"/>
            <a:ext cx="85615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33500" y="4728121"/>
            <a:ext cx="7783264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267200"/>
            <a:ext cx="6477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57400" y="4267200"/>
            <a:ext cx="776530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data points at random as initial cluster centers.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33500" y="5659487"/>
            <a:ext cx="7783264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4890046"/>
            <a:ext cx="64770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57400" y="4890046"/>
            <a:ext cx="727114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every remaining point to one of the K clusters (via perpendicular bisector).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3500" y="6282333"/>
            <a:ext cx="7783264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5821412"/>
            <a:ext cx="6477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57400" y="5821412"/>
            <a:ext cx="776530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Recompute the centroid of each cluster (mean of member points).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33500" y="6905179"/>
            <a:ext cx="7783264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6444258"/>
            <a:ext cx="6477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57400" y="6444258"/>
            <a:ext cx="776530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distance — Euclidean, Manhattan, or Minkowski.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3500" y="7067104"/>
            <a:ext cx="6477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57400" y="7067104"/>
            <a:ext cx="776530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Exclusive partitioning — clusters do not overlap.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78764" y="3752850"/>
            <a:ext cx="7075736" cy="5619750"/>
          </a:xfrm>
          <a:prstGeom prst="roundRect">
            <a:avLst>
              <a:gd name="adj" fmla="val 339"/>
            </a:avLst>
          </a:prstGeom>
          <a:solidFill>
            <a:srgbClr val="1C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10297864" y="4171950"/>
            <a:ext cx="68612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297864" y="4572000"/>
            <a:ext cx="6237536" cy="48577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7864" y="4572000"/>
            <a:ext cx="28575" cy="4857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6939" y="4705350"/>
            <a:ext cx="60150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k random points as centers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985988" y="5191125"/>
            <a:ext cx="6861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297864" y="5543550"/>
            <a:ext cx="6237536" cy="48577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7864" y="5543550"/>
            <a:ext cx="28575" cy="4857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6939" y="5676900"/>
            <a:ext cx="60150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each obs. to nearest center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985988" y="6162675"/>
            <a:ext cx="6861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297864" y="6515100"/>
            <a:ext cx="6237536" cy="48577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97864" y="6515100"/>
            <a:ext cx="28575" cy="4857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6939" y="6648450"/>
            <a:ext cx="60150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Recalculate cluster centers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985988" y="7134225"/>
            <a:ext cx="6861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0297864" y="7486650"/>
            <a:ext cx="6237536" cy="49530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97864" y="7486650"/>
            <a:ext cx="28575" cy="495300"/>
          </a:xfrm>
          <a:prstGeom prst="rect">
            <a:avLst/>
          </a:prstGeom>
          <a:solidFill>
            <a:srgbClr val="E8D9A8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6939" y="7620000"/>
            <a:ext cx="60150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Centers changed? ⟶ yes: loop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985988" y="8115300"/>
            <a:ext cx="6861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no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0297864" y="8467725"/>
            <a:ext cx="6237536" cy="4857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41" name="Text 39"/>
          <p:cNvSpPr/>
          <p:nvPr/>
        </p:nvSpPr>
        <p:spPr>
          <a:xfrm>
            <a:off x="10488364" y="8601075"/>
            <a:ext cx="60436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869567" y="1981200"/>
            <a:ext cx="22934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0 · INIT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Initialize — pick 3 random centers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— each point → nearest center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recompute centers as means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Reassign — with new centers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recompute centers as means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Reassign — with new centers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recompute centers as means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Reassign — with new centers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small shifts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Reassign — mostly stable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small shifts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Reassign — mostly stable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— negligible movement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Reassign — no changes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44622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· MECHANISM · K-MEANS WALK-THROUGH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61771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algorithm.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680382" y="1981200"/>
            <a:ext cx="1401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2600325"/>
            <a:ext cx="75246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1333500" y="3464123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124200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66900" y="3067050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inputs.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3985022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3645098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66900" y="3587948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k cluster centers.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4505920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165997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66900" y="4108847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cases to closest center.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026819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4686895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866900" y="4629745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cluster centers.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547717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5207794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C4B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66900" y="5150644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8A8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Re-assign cases.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068616"/>
            <a:ext cx="6840587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5728692"/>
            <a:ext cx="495300" cy="263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66900" y="5671542"/>
            <a:ext cx="693790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steps 4 &amp; 5 until convergence.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8526810"/>
            <a:ext cx="6840587" cy="998190"/>
          </a:xfrm>
          <a:prstGeom prst="roundRect">
            <a:avLst>
              <a:gd name="adj" fmla="val 1908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562100" y="8755410"/>
            <a:ext cx="70217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62100" y="8974485"/>
            <a:ext cx="70217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Converged — assignments stable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8745587" y="2600325"/>
            <a:ext cx="8208913" cy="6924675"/>
          </a:xfrm>
          <a:prstGeom prst="roundRect">
            <a:avLst>
              <a:gd name="adj" fmla="val 27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3712" y="3109913"/>
            <a:ext cx="7732663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9450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· CHOOSING 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83832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Inertia.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3038475"/>
            <a:ext cx="14668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given k the objective is to minimize inertia — the within-cluster sum of squares.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33500" y="3848100"/>
            <a:ext cx="15621000" cy="1992511"/>
          </a:xfrm>
          <a:prstGeom prst="roundRect">
            <a:avLst>
              <a:gd name="adj" fmla="val 956"/>
            </a:avLst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765935" y="4514850"/>
            <a:ext cx="14756130" cy="697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4EFE6"/>
                </a:solidFill>
                <a:highlight>
                  <a:srgbClr val="1C1C1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Inertia = Σ</a:t>
            </a:r>
            <a:pPr algn="ctr" indent="0" marL="0">
              <a:buNone/>
            </a:pPr>
            <a:r>
              <a:rPr lang="en-US" sz="180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ctr" indent="0" marL="0">
              <a:buNone/>
            </a:pPr>
            <a:r>
              <a:rPr lang="en-US" sz="42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algn="ctr" indent="0" marL="0">
              <a:buNone/>
            </a:pPr>
            <a:r>
              <a:rPr lang="en-US" sz="1800" baseline="-4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algn="ctr" indent="0" marL="0">
              <a:buNone/>
            </a:pPr>
            <a:r>
              <a:rPr lang="en-US" sz="1800" baseline="30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333500" y="6412111"/>
            <a:ext cx="775049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algn="l" indent="0" marL="0">
              <a:lnSpc>
                <a:spcPct val="145000"/>
              </a:lnSpc>
              <a:buNone/>
            </a:pPr>
            <a:r>
              <a:rPr lang="en-US" sz="1625" i="1" baseline="-400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distance of observation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its cluster center.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29750" y="6412111"/>
            <a:ext cx="775049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practice, run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from several different starting points and keep the result with the smallest inertia.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" y="91630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9450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· CHOOSING 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</a:t>
            </a:r>
            <a:pPr algn="l" indent="0" marL="0">
              <a:lnSpc>
                <a:spcPct val="100000"/>
              </a:lnSpc>
              <a:buNone/>
            </a:pPr>
            <a:r>
              <a:rPr lang="en-US" sz="7200" i="1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</a:t>
            </a:r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elbow.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2943225"/>
            <a:ext cx="14668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 inertia against k. Choose the point where the curve visibly bends — the marginal reduction in inertia flattens.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3629025"/>
            <a:ext cx="8778776" cy="5884366"/>
          </a:xfrm>
          <a:prstGeom prst="roundRect">
            <a:avLst>
              <a:gd name="adj" fmla="val 324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4025" y="4019550"/>
            <a:ext cx="7997726" cy="51033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83776" y="5349180"/>
            <a:ext cx="68976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THUMB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683776" y="5634930"/>
            <a:ext cx="6458693" cy="114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smallest </a:t>
            </a:r>
            <a:pPr algn="l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captures most of the reduction — beyond the elbow, each new cluster buys diminishing returns.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683776" y="7048351"/>
            <a:ext cx="68976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EXAMPLE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683776" y="7334101"/>
            <a:ext cx="6897633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 </a:t>
            </a:r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suggested.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333500" y="9799141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19450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· CHOOSING 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silhouette method.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2847975"/>
            <a:ext cx="14668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 observation i, compare its typical distance to its own cluster with its distance to the next-closest one.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3533775"/>
            <a:ext cx="7882979" cy="1743075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7825" y="3848100"/>
            <a:ext cx="797976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647825" y="4162425"/>
            <a:ext cx="7471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a(i)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average distance from other observations in </a:t>
            </a:r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own cluster.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47825" y="4619625"/>
            <a:ext cx="74719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b(i)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average distance from observations in the closest </a:t>
            </a:r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33500" y="5505450"/>
            <a:ext cx="7882979" cy="1457325"/>
          </a:xfrm>
          <a:prstGeom prst="roundRect">
            <a:avLst>
              <a:gd name="adj" fmla="val 1307"/>
            </a:avLst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1558155" y="5848350"/>
            <a:ext cx="74336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4EFE6"/>
                </a:solidFill>
                <a:highlight>
                  <a:srgbClr val="1C1C1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s(</a:t>
            </a:r>
            <a:pPr algn="ctr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algn="ctr" indent="0" marL="0">
              <a:buNone/>
            </a:pPr>
            <a:r>
              <a:rPr lang="en-US" sz="3000" dirty="0">
                <a:solidFill>
                  <a:srgbClr val="F4EFE6"/>
                </a:solidFill>
                <a:highlight>
                  <a:srgbClr val="1C1C1C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) = </a:t>
            </a:r>
            <a:pPr algn="ctr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b(i) − a(i) max{ a(i), b(i) }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33500" y="7191375"/>
            <a:ext cx="8119469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number of clusters that maximizes the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silhouette score across all observations.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87979" y="5111204"/>
            <a:ext cx="78831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87979" y="5435054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B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+1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40479" y="5468392"/>
            <a:ext cx="68354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Well-clustered; far from neighbors.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87979" y="5844629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740479" y="5877967"/>
            <a:ext cx="68354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cluster boundary.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87979" y="6254204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−1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740479" y="6287542"/>
            <a:ext cx="68354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Likely assigned to the wrong cluster.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787979" y="6835229"/>
            <a:ext cx="78831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87979" y="7120979"/>
            <a:ext cx="7381516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statistic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compare within-cluster sum of squares to what would be expected on random data.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THREE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33500" y="2739479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500" y="3272879"/>
            <a:ext cx="16089630" cy="38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spc="-495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mall </a:t>
            </a:r>
            <a:pPr algn="l" indent="0" marL="0">
              <a:lnSpc>
                <a:spcPct val="90000"/>
              </a:lnSpc>
              <a:buNone/>
            </a:pPr>
            <a:r>
              <a:rPr lang="en-US" sz="16500" i="1" spc="-495" kern="0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</a:t>
            </a:r>
            <a:pPr algn="l" indent="0" marL="0">
              <a:lnSpc>
                <a:spcPct val="90000"/>
              </a:lnSpc>
              <a:buNone/>
            </a:pPr>
            <a:r>
              <a:rPr lang="en-US" sz="16500" spc="-495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case.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1333500" y="8260259"/>
            <a:ext cx="882967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F4EFE6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well-known dataset from business DS / AI competitions — a good playground for segmentation.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478000" y="8310562"/>
            <a:ext cx="247650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4EFE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kaggle.com / datasets shwetabh123 / mall-customers 33 / 47</a:t>
            </a:r>
            <a:endParaRPr lang="en-US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402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MALL CUSTOMERS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cluster them?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33500" y="2847975"/>
            <a:ext cx="14668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 owners want to segment shoppers by the data they already have.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3657600"/>
            <a:ext cx="74293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SIGNALS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33500" y="4057650"/>
            <a:ext cx="6753969" cy="7239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4286250"/>
            <a:ext cx="5051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40600" y="4333875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demographic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33500" y="4914900"/>
            <a:ext cx="6753969" cy="7239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5143500"/>
            <a:ext cx="18435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income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020669" y="5191125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 / year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33500" y="5772150"/>
            <a:ext cx="6753969" cy="7239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6000750"/>
            <a:ext cx="1794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spending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40600" y="6048375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1–100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33500" y="6800850"/>
            <a:ext cx="695658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Stores can send targeted promotions to specific segments on the right days.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49469" y="3657600"/>
            <a:ext cx="89155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PLAYS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49469" y="4057650"/>
            <a:ext cx="28575" cy="7143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20" name="Text 18"/>
          <p:cNvSpPr/>
          <p:nvPr/>
        </p:nvSpPr>
        <p:spPr>
          <a:xfrm>
            <a:off x="9106644" y="4133850"/>
            <a:ext cx="8381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days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06644" y="4486275"/>
            <a:ext cx="83811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spenders receive discounts on premium sports apparel.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849469" y="4962525"/>
            <a:ext cx="28575" cy="7143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23" name="Text 21"/>
          <p:cNvSpPr/>
          <p:nvPr/>
        </p:nvSpPr>
        <p:spPr>
          <a:xfrm>
            <a:off x="9106644" y="5038725"/>
            <a:ext cx="8381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Mother's / Father's Day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06644" y="5391150"/>
            <a:ext cx="83811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adults are prompted to purchase gifts for parents.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849469" y="5867400"/>
            <a:ext cx="28575" cy="714375"/>
          </a:xfrm>
          <a:prstGeom prst="rect">
            <a:avLst/>
          </a:prstGeom>
          <a:solidFill>
            <a:srgbClr val="B8563A"/>
          </a:solidFill>
          <a:ln/>
        </p:spPr>
      </p:sp>
      <p:sp>
        <p:nvSpPr>
          <p:cNvPr id="26" name="Text 24"/>
          <p:cNvSpPr/>
          <p:nvPr/>
        </p:nvSpPr>
        <p:spPr>
          <a:xfrm>
            <a:off x="9106644" y="5943600"/>
            <a:ext cx="8381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Valentine's Day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106644" y="6296025"/>
            <a:ext cx="83811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 target young adults for partner gifts.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402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MALL CUSTOMERS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in clustering.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333500" y="3228975"/>
            <a:ext cx="2476500" cy="5362575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3495675"/>
            <a:ext cx="21374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8040142"/>
            <a:ext cx="213741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data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962400" y="3228975"/>
            <a:ext cx="2476500" cy="5362575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229100" y="3495675"/>
            <a:ext cx="21374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29100" y="7792492"/>
            <a:ext cx="213741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data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229100" y="8153400"/>
            <a:ext cx="21374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rows with missing vars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91300" y="3228975"/>
            <a:ext cx="2476500" cy="5362575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495675"/>
            <a:ext cx="21374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7792492"/>
            <a:ext cx="213741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858000" y="8153400"/>
            <a:ext cx="21374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variables to Z-scores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20200" y="3228975"/>
            <a:ext cx="2476500" cy="5362575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486900" y="3495675"/>
            <a:ext cx="21374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86900" y="7763917"/>
            <a:ext cx="2137410" cy="351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optimal </a:t>
            </a:r>
            <a:pPr algn="l" indent="0" marL="0">
              <a:lnSpc>
                <a:spcPct val="115000"/>
              </a:lnSpc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486900" y="8153400"/>
            <a:ext cx="21374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+ silhouette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849100" y="3228975"/>
            <a:ext cx="2476500" cy="5362575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115800" y="3495675"/>
            <a:ext cx="21374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115800" y="7792492"/>
            <a:ext cx="213741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115800" y="8153400"/>
            <a:ext cx="21374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K-means on sample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478000" y="3228975"/>
            <a:ext cx="2476500" cy="5362575"/>
          </a:xfrm>
          <a:prstGeom prst="roundRect">
            <a:avLst>
              <a:gd name="adj" fmla="val 769"/>
            </a:avLst>
          </a:prstGeom>
          <a:solidFill>
            <a:srgbClr val="1C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14744700" y="3495675"/>
            <a:ext cx="21374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744700" y="7621042"/>
            <a:ext cx="213741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4744700" y="7981950"/>
            <a:ext cx="2019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9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differences between clusters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33500" y="9163050"/>
            <a:ext cx="17183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→ clean → scale → tune k → fit → interpret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402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MALL CUSTOMERS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spc="-120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Elbow &amp; silhouette.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333500" y="2886075"/>
            <a:ext cx="7620000" cy="5857875"/>
          </a:xfrm>
          <a:prstGeom prst="roundRect">
            <a:avLst>
              <a:gd name="adj" fmla="val 32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5925" y="3238500"/>
            <a:ext cx="76066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ELBOW · WCSS VS. K</a:t>
            </a:r>
            <a:endParaRPr lang="en-US" sz="97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5925" y="3552825"/>
            <a:ext cx="6915150" cy="4838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34500" y="2886075"/>
            <a:ext cx="7620000" cy="5857875"/>
          </a:xfrm>
          <a:prstGeom prst="roundRect">
            <a:avLst>
              <a:gd name="adj" fmla="val 325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86925" y="3238500"/>
            <a:ext cx="76066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 · AVERAGE SCORE</a:t>
            </a:r>
            <a:endParaRPr lang="en-US" sz="975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6925" y="3552825"/>
            <a:ext cx="6915150" cy="4838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33500" y="9048750"/>
            <a:ext cx="17183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diagnostics agree — </a:t>
            </a:r>
            <a:pPr algn="l" indent="0" marL="0">
              <a:buNone/>
            </a:pPr>
            <a:r>
              <a:rPr lang="en-US" sz="1950" i="1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k = 5</a:t>
            </a:r>
            <a:pPr algn="l" indent="0" marL="0">
              <a:buNone/>
            </a:pPr>
            <a:r>
              <a:rPr lang="en-US" sz="1950" i="1" dirty="0">
                <a:solidFill>
                  <a:srgbClr val="3A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402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MALL CUSTOMERS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spc="-120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 the model.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2695575"/>
            <a:ext cx="14668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the diagnostics we use </a:t>
            </a:r>
            <a:pPr algn="l" indent="0" marL="0">
              <a:buNone/>
            </a:pPr>
            <a:r>
              <a:rPr lang="en-US" sz="1950" b="1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5</a:t>
            </a:r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Set a random state and a modest number of restarts for reproducibility.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362325"/>
            <a:ext cx="15621000" cy="5972175"/>
          </a:xfrm>
          <a:prstGeom prst="roundRect">
            <a:avLst>
              <a:gd name="adj" fmla="val 319"/>
            </a:avLst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790700" y="3819525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FB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based on analysis, k = 5 works well (adjust as needed)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90700" y="4185196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optimal_k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90700" y="4703266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FB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k-means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90700" y="5068937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KMeans(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95500" y="5434608"/>
            <a:ext cx="158724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n_clusters=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optimal_k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95500" y="5800279"/>
            <a:ext cx="158724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95500" y="6165949"/>
            <a:ext cx="158724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n_init=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90700" y="6531620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90700" y="6897291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cluster_labels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.fit_predict(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90700" y="7415361"/>
            <a:ext cx="1617726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FB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random_state=42, n_init=10 → reproducible + robust initialization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2402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MALL CUSTOMERS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spc="-120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statistics.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2600325"/>
            <a:ext cx="17183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segment profiles from the fitted k = 5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33500" y="3143250"/>
            <a:ext cx="15621000" cy="4667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3295650"/>
            <a:ext cx="18755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590032" y="3295650"/>
            <a:ext cx="52206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878342" y="3295650"/>
            <a:ext cx="10313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138321" y="3295650"/>
            <a:ext cx="14454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801185" y="3295650"/>
            <a:ext cx="269437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($K)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4724162" y="3295650"/>
            <a:ext cx="20779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SPENDING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333500" y="42243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485900" y="3781425"/>
            <a:ext cx="1875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590032" y="3781425"/>
            <a:ext cx="52206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Careful spenders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878342" y="3781425"/>
            <a:ext cx="10313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138321" y="3781425"/>
            <a:ext cx="14454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42.7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801185" y="3781425"/>
            <a:ext cx="269437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724162" y="3781425"/>
            <a:ext cx="20779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33500" y="48529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2" name="Text 20"/>
          <p:cNvSpPr/>
          <p:nvPr/>
        </p:nvSpPr>
        <p:spPr>
          <a:xfrm>
            <a:off x="1485900" y="4405313"/>
            <a:ext cx="18755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590032" y="4405313"/>
            <a:ext cx="5220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shoppers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878342" y="4405313"/>
            <a:ext cx="10313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138321" y="4405313"/>
            <a:ext cx="14454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32.7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801185" y="4405313"/>
            <a:ext cx="2694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724162" y="4405313"/>
            <a:ext cx="20779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333500" y="54816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5033963"/>
            <a:ext cx="18755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590032" y="5033963"/>
            <a:ext cx="5220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— young &amp; rich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878342" y="5033963"/>
            <a:ext cx="10313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138321" y="5033963"/>
            <a:ext cx="14454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32.7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801185" y="5033963"/>
            <a:ext cx="2694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724162" y="5033963"/>
            <a:ext cx="20779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333500" y="61102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6" name="Text 34"/>
          <p:cNvSpPr/>
          <p:nvPr/>
        </p:nvSpPr>
        <p:spPr>
          <a:xfrm>
            <a:off x="1485900" y="5662613"/>
            <a:ext cx="18755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3590032" y="5662613"/>
            <a:ext cx="5220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Sensible high-earners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8878342" y="5662613"/>
            <a:ext cx="10313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38321" y="5662613"/>
            <a:ext cx="14454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801185" y="5662613"/>
            <a:ext cx="2694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724162" y="5662613"/>
            <a:ext cx="20779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485900" y="6291263"/>
            <a:ext cx="18755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3590032" y="6291263"/>
            <a:ext cx="52206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Reckless spenders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878342" y="6291263"/>
            <a:ext cx="10313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138321" y="6291263"/>
            <a:ext cx="14454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1801185" y="6291263"/>
            <a:ext cx="269437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4724162" y="6291263"/>
            <a:ext cx="20779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33500" y="93535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values · Hull · ML in Business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402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· MALL CUSTOMERS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spc="-120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visualization.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33500" y="2695575"/>
            <a:ext cx="17183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two variables and color points by their assigned cluster.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362325"/>
            <a:ext cx="9029700" cy="7680275"/>
          </a:xfrm>
          <a:prstGeom prst="roundRect">
            <a:avLst>
              <a:gd name="adj" fmla="val 248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5925" y="3714750"/>
            <a:ext cx="8324850" cy="69754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34700" y="5826026"/>
            <a:ext cx="6621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934700" y="6302276"/>
            <a:ext cx="152400" cy="152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11239500" y="6264176"/>
            <a:ext cx="24667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income · low spend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934700" y="6683276"/>
            <a:ext cx="152400" cy="152400"/>
          </a:xfrm>
          <a:prstGeom prst="ellipse">
            <a:avLst/>
          </a:prstGeom>
          <a:solidFill>
            <a:srgbClr val="B8563A"/>
          </a:solidFill>
          <a:ln/>
        </p:spPr>
      </p:sp>
      <p:sp>
        <p:nvSpPr>
          <p:cNvPr id="13" name="Text 10"/>
          <p:cNvSpPr/>
          <p:nvPr/>
        </p:nvSpPr>
        <p:spPr>
          <a:xfrm>
            <a:off x="11239500" y="6645176"/>
            <a:ext cx="2539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income · low spend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934700" y="7064276"/>
            <a:ext cx="152400" cy="152400"/>
          </a:xfrm>
          <a:prstGeom prst="ellipse">
            <a:avLst/>
          </a:prstGeom>
          <a:solidFill>
            <a:srgbClr val="8FB09E"/>
          </a:solidFill>
          <a:ln/>
        </p:spPr>
      </p:sp>
      <p:sp>
        <p:nvSpPr>
          <p:cNvPr id="15" name="Text 12"/>
          <p:cNvSpPr/>
          <p:nvPr/>
        </p:nvSpPr>
        <p:spPr>
          <a:xfrm>
            <a:off x="11239500" y="7026176"/>
            <a:ext cx="25620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income · high spend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934700" y="7445276"/>
            <a:ext cx="152400" cy="152400"/>
          </a:xfrm>
          <a:prstGeom prst="ellipse">
            <a:avLst/>
          </a:prstGeom>
          <a:solidFill>
            <a:srgbClr val="E8D9A8"/>
          </a:solidFill>
          <a:ln/>
        </p:spPr>
      </p:sp>
      <p:sp>
        <p:nvSpPr>
          <p:cNvPr id="17" name="Text 14"/>
          <p:cNvSpPr/>
          <p:nvPr/>
        </p:nvSpPr>
        <p:spPr>
          <a:xfrm>
            <a:off x="11239500" y="7407176"/>
            <a:ext cx="26352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income · high spend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934700" y="7826276"/>
            <a:ext cx="152400" cy="152400"/>
          </a:xfrm>
          <a:prstGeom prst="ellipse">
            <a:avLst/>
          </a:prstGeom>
          <a:solidFill>
            <a:srgbClr val="6B6357"/>
          </a:solidFill>
          <a:ln/>
        </p:spPr>
      </p:sp>
      <p:sp>
        <p:nvSpPr>
          <p:cNvPr id="19" name="Text 16"/>
          <p:cNvSpPr/>
          <p:nvPr/>
        </p:nvSpPr>
        <p:spPr>
          <a:xfrm>
            <a:off x="11239500" y="7788176"/>
            <a:ext cx="22112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— the middle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934700" y="8345388"/>
            <a:ext cx="209550" cy="209550"/>
          </a:xfrm>
          <a:prstGeom prst="ellipse">
            <a:avLst/>
          </a:prstGeom>
          <a:solidFill>
            <a:srgbClr val="1C1C1C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1C1C1C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1296650" y="8321576"/>
            <a:ext cx="17865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centroid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FOUR · CASE STUDY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33500" y="2650480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500" y="3183880"/>
            <a:ext cx="1718310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0" spc="-405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</a:t>
            </a:r>
            <a:pPr algn="l" indent="0" marL="0">
              <a:lnSpc>
                <a:spcPct val="90000"/>
              </a:lnSpc>
              <a:buNone/>
            </a:pPr>
            <a:r>
              <a:rPr lang="en-US" sz="13500" i="1" spc="-405" kern="0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pPr algn="l" indent="0" marL="0">
              <a:lnSpc>
                <a:spcPct val="90000"/>
              </a:lnSpc>
              <a:buNone/>
            </a:pPr>
            <a:r>
              <a:rPr lang="en-US" sz="13500" spc="-405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333500" y="5107930"/>
            <a:ext cx="125730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F4EFE6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countries by their riskiness for foreign investment using 2019 data.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33500" y="6645920"/>
            <a:ext cx="3619500" cy="9525"/>
          </a:xfrm>
          <a:prstGeom prst="rect">
            <a:avLst/>
          </a:prstGeom>
          <a:solidFill>
            <a:srgbClr val="F4EFE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884045"/>
            <a:ext cx="3981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33500" y="7122170"/>
            <a:ext cx="3981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 real growth 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7484120"/>
            <a:ext cx="3981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34000" y="6645920"/>
            <a:ext cx="3619500" cy="9525"/>
          </a:xfrm>
          <a:prstGeom prst="rect">
            <a:avLst/>
          </a:prstGeom>
          <a:solidFill>
            <a:srgbClr val="F4EFE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34000" y="6884045"/>
            <a:ext cx="3981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0" y="7122170"/>
            <a:ext cx="3981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Corruption index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34000" y="7484120"/>
            <a:ext cx="3981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Transparency International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34500" y="6645920"/>
            <a:ext cx="3619500" cy="9525"/>
          </a:xfrm>
          <a:prstGeom prst="rect">
            <a:avLst/>
          </a:prstGeom>
          <a:solidFill>
            <a:srgbClr val="F4EFE6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0" y="6884045"/>
            <a:ext cx="3981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34500" y="7122170"/>
            <a:ext cx="3981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Peace index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34500" y="7484120"/>
            <a:ext cx="3981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Inst. for Economics &amp; Peace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335000" y="6645920"/>
            <a:ext cx="3619500" cy="9525"/>
          </a:xfrm>
          <a:prstGeom prst="rect">
            <a:avLst/>
          </a:prstGeom>
          <a:solidFill>
            <a:srgbClr val="F4EFE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0" y="6884045"/>
            <a:ext cx="3981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335000" y="7122170"/>
            <a:ext cx="3981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risk index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35000" y="7484120"/>
            <a:ext cx="3981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Rights Assn.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33500" y="8782050"/>
            <a:ext cx="27284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 countries · Z-score scaling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394311" y="8782050"/>
            <a:ext cx="6363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47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21739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COUNTRY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of the original data.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2352675"/>
            <a:ext cx="17183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Raw, unscaled values — six of 121 countries.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33500" y="2990850"/>
            <a:ext cx="15621000" cy="5048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504950" y="3162300"/>
            <a:ext cx="27920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460735" y="3162300"/>
            <a:ext cx="26749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402413" y="3162300"/>
            <a:ext cx="20390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PEACE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696508" y="3162300"/>
            <a:ext cx="26749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RISK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582040" y="3162300"/>
            <a:ext cx="42010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 GROWTH (%/YR)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1333500" y="41100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4" name="Text 12"/>
          <p:cNvSpPr/>
          <p:nvPr/>
        </p:nvSpPr>
        <p:spPr>
          <a:xfrm>
            <a:off x="1504950" y="3667125"/>
            <a:ext cx="27920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Albania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60735" y="3667125"/>
            <a:ext cx="26749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02413" y="3667125"/>
            <a:ext cx="20390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1.821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96508" y="3667125"/>
            <a:ext cx="26749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4.546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582040" y="3667125"/>
            <a:ext cx="42010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2.983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33500" y="47386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0" name="Text 18"/>
          <p:cNvSpPr/>
          <p:nvPr/>
        </p:nvSpPr>
        <p:spPr>
          <a:xfrm>
            <a:off x="1504950" y="4291013"/>
            <a:ext cx="2792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Algeria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60735" y="429101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402413" y="4291013"/>
            <a:ext cx="20390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2.219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96508" y="429101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4.435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82040" y="4291013"/>
            <a:ext cx="4201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2.553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33500" y="53673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6" name="Text 24"/>
          <p:cNvSpPr/>
          <p:nvPr/>
        </p:nvSpPr>
        <p:spPr>
          <a:xfrm>
            <a:off x="1504950" y="4919663"/>
            <a:ext cx="2792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Argentina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60735" y="491966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402413" y="4919663"/>
            <a:ext cx="20390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1.989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696508" y="491966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5.087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582040" y="4919663"/>
            <a:ext cx="4201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−3.061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33500" y="59959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2" name="Text 30"/>
          <p:cNvSpPr/>
          <p:nvPr/>
        </p:nvSpPr>
        <p:spPr>
          <a:xfrm>
            <a:off x="1504950" y="5548313"/>
            <a:ext cx="2792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Armenia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460735" y="554831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402413" y="5548313"/>
            <a:ext cx="20390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2.294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696508" y="554831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4.812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582040" y="5548313"/>
            <a:ext cx="4201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333500" y="66246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8" name="Text 36"/>
          <p:cNvSpPr/>
          <p:nvPr/>
        </p:nvSpPr>
        <p:spPr>
          <a:xfrm>
            <a:off x="1504950" y="6176963"/>
            <a:ext cx="2792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460735" y="617696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402413" y="6176963"/>
            <a:ext cx="20390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1.419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696508" y="6176963"/>
            <a:ext cx="2674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8.363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2582040" y="6176963"/>
            <a:ext cx="4201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1.713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504950" y="6805613"/>
            <a:ext cx="27920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Austria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460735" y="6805613"/>
            <a:ext cx="26749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402413" y="6805613"/>
            <a:ext cx="203909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1.291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696508" y="6805613"/>
            <a:ext cx="26749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8.089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582040" y="6805613"/>
            <a:ext cx="42010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1.605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33500" y="93535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762000"/>
            <a:ext cx="21739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COUNTRY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7620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552575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Z-score scaling.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2352675"/>
            <a:ext cx="17183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feature now has mean 0 and unit variance.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33500" y="2990850"/>
            <a:ext cx="15621000" cy="5048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504950" y="3162300"/>
            <a:ext cx="30488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02820" y="3162300"/>
            <a:ext cx="29222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883432" y="3162300"/>
            <a:ext cx="25592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PEACE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690473" y="3162300"/>
            <a:ext cx="29222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RISK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3860503" y="3162300"/>
            <a:ext cx="29225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 GROWTH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1333500" y="41100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4" name="Text 12"/>
          <p:cNvSpPr/>
          <p:nvPr/>
        </p:nvSpPr>
        <p:spPr>
          <a:xfrm>
            <a:off x="1504950" y="3667125"/>
            <a:ext cx="30488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Albania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2820" y="3667125"/>
            <a:ext cx="29222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−0.633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883432" y="3667125"/>
            <a:ext cx="25592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−0.390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690473" y="3667125"/>
            <a:ext cx="29222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−0.878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860503" y="3667125"/>
            <a:ext cx="2922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0.127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33500" y="47386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0" name="Text 18"/>
          <p:cNvSpPr/>
          <p:nvPr/>
        </p:nvSpPr>
        <p:spPr>
          <a:xfrm>
            <a:off x="1504950" y="4291013"/>
            <a:ext cx="3048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Algeria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2820" y="429101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−0.633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883432" y="4291013"/>
            <a:ext cx="25592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690473" y="429101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−0.959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860503" y="4291013"/>
            <a:ext cx="29225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−0.041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33500" y="53673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6" name="Text 24"/>
          <p:cNvSpPr/>
          <p:nvPr/>
        </p:nvSpPr>
        <p:spPr>
          <a:xfrm>
            <a:off x="1504950" y="4919663"/>
            <a:ext cx="3048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Argentina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02820" y="491966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−0.099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883432" y="4919663"/>
            <a:ext cx="25592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−0.026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690473" y="491966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−0.484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860503" y="4919663"/>
            <a:ext cx="29225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−2.231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33500" y="599598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2" name="Text 30"/>
          <p:cNvSpPr/>
          <p:nvPr/>
        </p:nvSpPr>
        <p:spPr>
          <a:xfrm>
            <a:off x="1504950" y="5548313"/>
            <a:ext cx="3048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Armenia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02820" y="554831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−0.259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883432" y="5548313"/>
            <a:ext cx="25592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0.635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690473" y="554831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−0.685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3860503" y="5548313"/>
            <a:ext cx="29225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1.304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333500" y="66246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8" name="Text 36"/>
          <p:cNvSpPr/>
          <p:nvPr/>
        </p:nvSpPr>
        <p:spPr>
          <a:xfrm>
            <a:off x="1504950" y="6176963"/>
            <a:ext cx="3048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02820" y="617696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1.612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883432" y="6176963"/>
            <a:ext cx="25592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−1.261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0690473" y="6176963"/>
            <a:ext cx="29222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1.900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3860503" y="6176963"/>
            <a:ext cx="29225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−0.368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504950" y="6805613"/>
            <a:ext cx="30488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Austria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02820" y="6805613"/>
            <a:ext cx="29222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1.612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883432" y="6805613"/>
            <a:ext cx="25592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−1.539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0690473" y="6805613"/>
            <a:ext cx="29222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1.701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3860503" y="6805613"/>
            <a:ext cx="29225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−0.411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33500" y="93535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1739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COUNTRY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608963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Corruption &amp; legal risk were highly correlated.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333500" y="3400425"/>
            <a:ext cx="8398520" cy="6897886"/>
          </a:xfrm>
          <a:prstGeom prst="roundRect">
            <a:avLst>
              <a:gd name="adj" fmla="val 276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5925" y="3752850"/>
            <a:ext cx="7693670" cy="61930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94020" y="5618262"/>
            <a:ext cx="71063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494020" y="5904012"/>
            <a:ext cx="71063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Redundant features add noise, not signal. Drop one.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494020" y="6594574"/>
            <a:ext cx="71063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FEATURE SET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494020" y="7223224"/>
            <a:ext cx="6460331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2" name="Text 9"/>
          <p:cNvSpPr/>
          <p:nvPr/>
        </p:nvSpPr>
        <p:spPr>
          <a:xfrm>
            <a:off x="10494020" y="6880324"/>
            <a:ext cx="71063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 growth rate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494020" y="7651849"/>
            <a:ext cx="6460331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4" name="Text 11"/>
          <p:cNvSpPr/>
          <p:nvPr/>
        </p:nvSpPr>
        <p:spPr>
          <a:xfrm>
            <a:off x="10494020" y="7308949"/>
            <a:ext cx="71063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Peace index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494020" y="7737574"/>
            <a:ext cx="71063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risk index</a:t>
            </a:r>
            <a:endParaRPr lang="en-US" sz="1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1739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COUNTRY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Within-cluster sum of squares vs. </a:t>
            </a:r>
            <a:pPr algn="l" indent="0" marL="0">
              <a:lnSpc>
                <a:spcPct val="100000"/>
              </a:lnSpc>
              <a:buNone/>
            </a:pPr>
            <a:r>
              <a:rPr lang="en-US" sz="5400" i="1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2695575"/>
            <a:ext cx="14668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total WCSS declines as k grows under k-means.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362325"/>
            <a:ext cx="15621000" cy="7626251"/>
          </a:xfrm>
          <a:prstGeom prst="roundRect">
            <a:avLst>
              <a:gd name="adj" fmla="val 250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4525" y="3943350"/>
            <a:ext cx="14458950" cy="64642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3500" y="11217176"/>
            <a:ext cx="17183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1739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COUNTRY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Silhouette scores.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2619375"/>
            <a:ext cx="17183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Suggests </a:t>
            </a:r>
            <a:pPr algn="l" indent="0" marL="0">
              <a:buNone/>
            </a:pPr>
            <a:r>
              <a:rPr lang="en-US" sz="1950" i="1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3</a:t>
            </a:r>
            <a:pPr algn="l" indent="0" marL="0">
              <a:buNone/>
            </a:pPr>
            <a:r>
              <a:rPr lang="en-US" sz="195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381375"/>
            <a:ext cx="5943600" cy="4286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3514725"/>
            <a:ext cx="9999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514732" y="3514725"/>
            <a:ext cx="46290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SILHOUETTE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1333500" y="4310063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1" name="Text 9"/>
          <p:cNvSpPr/>
          <p:nvPr/>
        </p:nvSpPr>
        <p:spPr>
          <a:xfrm>
            <a:off x="1466850" y="3924300"/>
            <a:ext cx="99997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514732" y="3924300"/>
            <a:ext cx="462901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0.351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33500" y="4319588"/>
            <a:ext cx="5943600" cy="514350"/>
          </a:xfrm>
          <a:prstGeom prst="rect">
            <a:avLst/>
          </a:prstGeom>
          <a:solidFill>
            <a:srgbClr val="E8DDC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33500" y="4824413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466850" y="4433888"/>
            <a:ext cx="99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514732" y="4433888"/>
            <a:ext cx="4629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33500" y="5338763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8" name="Text 16"/>
          <p:cNvSpPr/>
          <p:nvPr/>
        </p:nvSpPr>
        <p:spPr>
          <a:xfrm>
            <a:off x="1466850" y="4948238"/>
            <a:ext cx="99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514732" y="4948238"/>
            <a:ext cx="4629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0.340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5853113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1" name="Text 19"/>
          <p:cNvSpPr/>
          <p:nvPr/>
        </p:nvSpPr>
        <p:spPr>
          <a:xfrm>
            <a:off x="1466850" y="5462588"/>
            <a:ext cx="99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514732" y="5462588"/>
            <a:ext cx="4629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0.344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3500" y="6367463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4" name="Text 22"/>
          <p:cNvSpPr/>
          <p:nvPr/>
        </p:nvSpPr>
        <p:spPr>
          <a:xfrm>
            <a:off x="1466850" y="5976938"/>
            <a:ext cx="99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514732" y="5976938"/>
            <a:ext cx="4629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0.348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33500" y="6881813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7" name="Text 25"/>
          <p:cNvSpPr/>
          <p:nvPr/>
        </p:nvSpPr>
        <p:spPr>
          <a:xfrm>
            <a:off x="1466850" y="6491288"/>
            <a:ext cx="99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2514732" y="6491288"/>
            <a:ext cx="4629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0.355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333500" y="7396162"/>
            <a:ext cx="59436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0" name="Text 28"/>
          <p:cNvSpPr/>
          <p:nvPr/>
        </p:nvSpPr>
        <p:spPr>
          <a:xfrm>
            <a:off x="1466850" y="7005638"/>
            <a:ext cx="9999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2514732" y="7005638"/>
            <a:ext cx="46290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66850" y="7519988"/>
            <a:ext cx="99997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514732" y="7519988"/>
            <a:ext cx="462901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0.332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039100" y="3381375"/>
            <a:ext cx="8915400" cy="6654403"/>
          </a:xfrm>
          <a:prstGeom prst="roundRect">
            <a:avLst>
              <a:gd name="adj" fmla="val 286"/>
            </a:avLst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91525" y="3733800"/>
            <a:ext cx="8210550" cy="5949553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333500" y="10264378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352550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21739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· COUNTRY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26284" y="952500"/>
            <a:ext cx="804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47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1743075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centers (scaled).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2619375"/>
            <a:ext cx="14668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63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high peace-index values are bad; high legal-risk-index values are good.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33500" y="3257550"/>
            <a:ext cx="15621000" cy="5429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448050"/>
            <a:ext cx="38086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515421" y="3448050"/>
            <a:ext cx="1884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PEACE INDEX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704237" y="3448050"/>
            <a:ext cx="18840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INDEX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893052" y="3448050"/>
            <a:ext cx="15016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614650" y="3448050"/>
            <a:ext cx="5149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spc="117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1333500" y="4595813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029075"/>
            <a:ext cx="38086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15421" y="4029075"/>
            <a:ext cx="188401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704237" y="4029075"/>
            <a:ext cx="188401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93052" y="4029075"/>
            <a:ext cx="150167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−1.11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614650" y="4029075"/>
            <a:ext cx="51493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unstable, weak law, contracting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33500" y="5405438"/>
            <a:ext cx="15621000" cy="9525"/>
          </a:xfrm>
          <a:prstGeom prst="rect">
            <a:avLst/>
          </a:prstGeom>
          <a:solidFill>
            <a:srgbClr val="D6CFC2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4833938"/>
            <a:ext cx="38086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risk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15421" y="4833938"/>
            <a:ext cx="18840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704237" y="4833938"/>
            <a:ext cx="18840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93052" y="4833938"/>
            <a:ext cx="15016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614650" y="4833938"/>
            <a:ext cx="51493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institutions, growing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524000" y="5643563"/>
            <a:ext cx="38086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risk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15421" y="5643563"/>
            <a:ext cx="188401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704237" y="5643563"/>
            <a:ext cx="188401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893052" y="5643563"/>
            <a:ext cx="150167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614650" y="5643563"/>
            <a:ext cx="51493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peaceful, rule of law, mature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33500" y="9163050"/>
            <a:ext cx="1608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Hull · Machine Learning and Financial Institutions, 3rd Ed.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3352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6642 · END OF LECTURE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100971" y="1333500"/>
            <a:ext cx="9297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6B6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47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33500" y="2446139"/>
            <a:ext cx="171831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33500" y="3027164"/>
            <a:ext cx="16089630" cy="291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50" spc="-337" kern="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Structure, </a:t>
            </a:r>
            <a:pPr algn="l" indent="0" marL="0">
              <a:lnSpc>
                <a:spcPct val="95000"/>
              </a:lnSpc>
              <a:buNone/>
            </a:pPr>
            <a:r>
              <a:rPr lang="en-US" sz="11250" i="1" spc="-337" kern="0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supervision.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333500" y="6475214"/>
            <a:ext cx="488939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33500" y="6823770"/>
            <a:ext cx="4036051" cy="63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finds groups when no labels exist.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254651" y="6475214"/>
            <a:ext cx="488955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54651" y="6804720"/>
            <a:ext cx="208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254651" y="6852345"/>
            <a:ext cx="4569050" cy="63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-means minimizes inertia through iterative reassignment.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175950" y="6475214"/>
            <a:ext cx="488939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spc="168" kern="0" dirty="0">
                <a:solidFill>
                  <a:srgbClr val="B85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75950" y="6852345"/>
            <a:ext cx="39649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Elbow &amp; silhouette diagnostics choose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080754" y="6804720"/>
            <a:ext cx="208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175950" y="6852345"/>
            <a:ext cx="4225521" cy="63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scaling matters.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3500" y="8420100"/>
            <a:ext cx="28701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33500" y="8648700"/>
            <a:ext cx="28701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Hemang Subramanian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434989" y="8477250"/>
            <a:ext cx="277146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B85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Questions?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2026-07-08T22:33:04Z</dcterms:created>
  <dcterms:modified xsi:type="dcterms:W3CDTF">2026-07-08T22:33:04Z</dcterms:modified>
</cp:coreProperties>
</file>
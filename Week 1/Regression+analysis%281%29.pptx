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7"/>
  </p:notesMasterIdLst>
  <p:sldIdLst>
    <p:sldId id="256" r:id="rId2"/>
    <p:sldId id="280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5" r:id="rId18"/>
    <p:sldId id="281" r:id="rId19"/>
    <p:sldId id="272" r:id="rId20"/>
    <p:sldId id="273" r:id="rId21"/>
    <p:sldId id="271" r:id="rId22"/>
    <p:sldId id="274" r:id="rId23"/>
    <p:sldId id="277" r:id="rId24"/>
    <p:sldId id="276" r:id="rId25"/>
    <p:sldId id="27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9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A20A46-EC5E-4E66-AFFA-F3F8090B91C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620A384-BA24-47CC-BD52-D2FBA5E2D745}">
      <dgm:prSet/>
      <dgm:spPr/>
      <dgm:t>
        <a:bodyPr/>
        <a:lstStyle/>
        <a:p>
          <a:r>
            <a:rPr lang="en-US"/>
            <a:t>Scatterplots allow you to study the flow of the dots, or the relationship between the two variables</a:t>
          </a:r>
        </a:p>
      </dgm:t>
    </dgm:pt>
    <dgm:pt modelId="{AE5C8423-DEFE-4ECF-8562-9F4522ABD166}" type="parTrans" cxnId="{7AF25B81-AA9C-47DE-BDEF-0DC8DCCA7219}">
      <dgm:prSet/>
      <dgm:spPr/>
      <dgm:t>
        <a:bodyPr/>
        <a:lstStyle/>
        <a:p>
          <a:endParaRPr lang="en-US"/>
        </a:p>
      </dgm:t>
    </dgm:pt>
    <dgm:pt modelId="{62658D89-C264-4383-A98F-D7B96F2E7EBD}" type="sibTrans" cxnId="{7AF25B81-AA9C-47DE-BDEF-0DC8DCCA7219}">
      <dgm:prSet/>
      <dgm:spPr/>
      <dgm:t>
        <a:bodyPr/>
        <a:lstStyle/>
        <a:p>
          <a:endParaRPr lang="en-US"/>
        </a:p>
      </dgm:t>
    </dgm:pt>
    <dgm:pt modelId="{D8573588-0E6E-48A6-A16B-A23792658A1D}">
      <dgm:prSet/>
      <dgm:spPr/>
      <dgm:t>
        <a:bodyPr/>
        <a:lstStyle/>
        <a:p>
          <a:r>
            <a:rPr lang="en-US"/>
            <a:t>Scatterplots allow political scientists to identify -- positive or negative relationships -- monotonic or linear relationships</a:t>
          </a:r>
        </a:p>
      </dgm:t>
    </dgm:pt>
    <dgm:pt modelId="{A3C53865-3614-4199-AAB3-B2BCD3475656}" type="parTrans" cxnId="{C53E8B7E-4D09-437B-9380-6F28420E7F49}">
      <dgm:prSet/>
      <dgm:spPr/>
      <dgm:t>
        <a:bodyPr/>
        <a:lstStyle/>
        <a:p>
          <a:endParaRPr lang="en-US"/>
        </a:p>
      </dgm:t>
    </dgm:pt>
    <dgm:pt modelId="{F0079165-065A-4B77-92E6-9754062FCD6F}" type="sibTrans" cxnId="{C53E8B7E-4D09-437B-9380-6F28420E7F49}">
      <dgm:prSet/>
      <dgm:spPr/>
      <dgm:t>
        <a:bodyPr/>
        <a:lstStyle/>
        <a:p>
          <a:endParaRPr lang="en-US"/>
        </a:p>
      </dgm:t>
    </dgm:pt>
    <dgm:pt modelId="{3C7FEB35-1FB3-464F-94A5-9C3FD31FCE9D}" type="pres">
      <dgm:prSet presAssocID="{B8A20A46-EC5E-4E66-AFFA-F3F8090B91CB}" presName="root" presStyleCnt="0">
        <dgm:presLayoutVars>
          <dgm:dir/>
          <dgm:resizeHandles val="exact"/>
        </dgm:presLayoutVars>
      </dgm:prSet>
      <dgm:spPr/>
    </dgm:pt>
    <dgm:pt modelId="{C2FBD3C6-B937-435C-99E1-CDE335BBF6CB}" type="pres">
      <dgm:prSet presAssocID="{E620A384-BA24-47CC-BD52-D2FBA5E2D745}" presName="compNode" presStyleCnt="0"/>
      <dgm:spPr/>
    </dgm:pt>
    <dgm:pt modelId="{099D66AF-C543-40D6-AF00-BB827B2291E6}" type="pres">
      <dgm:prSet presAssocID="{E620A384-BA24-47CC-BD52-D2FBA5E2D745}" presName="bgRect" presStyleLbl="bgShp" presStyleIdx="0" presStyleCnt="2"/>
      <dgm:spPr/>
    </dgm:pt>
    <dgm:pt modelId="{6968D3B4-D4A6-4011-9CEF-3879D1F4D769}" type="pres">
      <dgm:prSet presAssocID="{E620A384-BA24-47CC-BD52-D2FBA5E2D74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ed"/>
        </a:ext>
      </dgm:extLst>
    </dgm:pt>
    <dgm:pt modelId="{A78AC1EC-AC24-41A7-88D3-6CF03CF86A47}" type="pres">
      <dgm:prSet presAssocID="{E620A384-BA24-47CC-BD52-D2FBA5E2D745}" presName="spaceRect" presStyleCnt="0"/>
      <dgm:spPr/>
    </dgm:pt>
    <dgm:pt modelId="{15C3E0B6-BD47-41BF-98D1-F540A1A7E249}" type="pres">
      <dgm:prSet presAssocID="{E620A384-BA24-47CC-BD52-D2FBA5E2D745}" presName="parTx" presStyleLbl="revTx" presStyleIdx="0" presStyleCnt="2">
        <dgm:presLayoutVars>
          <dgm:chMax val="0"/>
          <dgm:chPref val="0"/>
        </dgm:presLayoutVars>
      </dgm:prSet>
      <dgm:spPr/>
    </dgm:pt>
    <dgm:pt modelId="{2E20DE81-FD60-4FD9-9943-8DB433182DBB}" type="pres">
      <dgm:prSet presAssocID="{62658D89-C264-4383-A98F-D7B96F2E7EBD}" presName="sibTrans" presStyleCnt="0"/>
      <dgm:spPr/>
    </dgm:pt>
    <dgm:pt modelId="{3726166F-4C88-47D2-A07D-4E4EFB8E0089}" type="pres">
      <dgm:prSet presAssocID="{D8573588-0E6E-48A6-A16B-A23792658A1D}" presName="compNode" presStyleCnt="0"/>
      <dgm:spPr/>
    </dgm:pt>
    <dgm:pt modelId="{74600670-4BA3-47E1-9EB6-662BDE812C30}" type="pres">
      <dgm:prSet presAssocID="{D8573588-0E6E-48A6-A16B-A23792658A1D}" presName="bgRect" presStyleLbl="bgShp" presStyleIdx="1" presStyleCnt="2"/>
      <dgm:spPr/>
    </dgm:pt>
    <dgm:pt modelId="{1CA4A171-8443-48A4-8757-6EFB8B0886E0}" type="pres">
      <dgm:prSet presAssocID="{D8573588-0E6E-48A6-A16B-A23792658A1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F8D708F6-7133-4BFC-A222-2D9081367D9C}" type="pres">
      <dgm:prSet presAssocID="{D8573588-0E6E-48A6-A16B-A23792658A1D}" presName="spaceRect" presStyleCnt="0"/>
      <dgm:spPr/>
    </dgm:pt>
    <dgm:pt modelId="{0B565DE4-8E61-4A19-811C-A71F7F6E4D2C}" type="pres">
      <dgm:prSet presAssocID="{D8573588-0E6E-48A6-A16B-A23792658A1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B13D26A-ECF2-40FA-B8B2-3734CC36BD02}" type="presOf" srcId="{D8573588-0E6E-48A6-A16B-A23792658A1D}" destId="{0B565DE4-8E61-4A19-811C-A71F7F6E4D2C}" srcOrd="0" destOrd="0" presId="urn:microsoft.com/office/officeart/2018/2/layout/IconVerticalSolidList"/>
    <dgm:cxn modelId="{C53E8B7E-4D09-437B-9380-6F28420E7F49}" srcId="{B8A20A46-EC5E-4E66-AFFA-F3F8090B91CB}" destId="{D8573588-0E6E-48A6-A16B-A23792658A1D}" srcOrd="1" destOrd="0" parTransId="{A3C53865-3614-4199-AAB3-B2BCD3475656}" sibTransId="{F0079165-065A-4B77-92E6-9754062FCD6F}"/>
    <dgm:cxn modelId="{7AF25B81-AA9C-47DE-BDEF-0DC8DCCA7219}" srcId="{B8A20A46-EC5E-4E66-AFFA-F3F8090B91CB}" destId="{E620A384-BA24-47CC-BD52-D2FBA5E2D745}" srcOrd="0" destOrd="0" parTransId="{AE5C8423-DEFE-4ECF-8562-9F4522ABD166}" sibTransId="{62658D89-C264-4383-A98F-D7B96F2E7EBD}"/>
    <dgm:cxn modelId="{90F4A2A4-62EA-49B6-94C9-4B15B2870DA2}" type="presOf" srcId="{B8A20A46-EC5E-4E66-AFFA-F3F8090B91CB}" destId="{3C7FEB35-1FB3-464F-94A5-9C3FD31FCE9D}" srcOrd="0" destOrd="0" presId="urn:microsoft.com/office/officeart/2018/2/layout/IconVerticalSolidList"/>
    <dgm:cxn modelId="{04F092F0-ADBD-4E6D-9C28-6C7C3526AD33}" type="presOf" srcId="{E620A384-BA24-47CC-BD52-D2FBA5E2D745}" destId="{15C3E0B6-BD47-41BF-98D1-F540A1A7E249}" srcOrd="0" destOrd="0" presId="urn:microsoft.com/office/officeart/2018/2/layout/IconVerticalSolidList"/>
    <dgm:cxn modelId="{39AB00F2-8287-4100-9141-975C13BF4332}" type="presParOf" srcId="{3C7FEB35-1FB3-464F-94A5-9C3FD31FCE9D}" destId="{C2FBD3C6-B937-435C-99E1-CDE335BBF6CB}" srcOrd="0" destOrd="0" presId="urn:microsoft.com/office/officeart/2018/2/layout/IconVerticalSolidList"/>
    <dgm:cxn modelId="{9E93C6B3-0FCE-4179-90D5-9BF3430DB96C}" type="presParOf" srcId="{C2FBD3C6-B937-435C-99E1-CDE335BBF6CB}" destId="{099D66AF-C543-40D6-AF00-BB827B2291E6}" srcOrd="0" destOrd="0" presId="urn:microsoft.com/office/officeart/2018/2/layout/IconVerticalSolidList"/>
    <dgm:cxn modelId="{8E3F7600-E7B6-4C21-9A14-AE4573E008C2}" type="presParOf" srcId="{C2FBD3C6-B937-435C-99E1-CDE335BBF6CB}" destId="{6968D3B4-D4A6-4011-9CEF-3879D1F4D769}" srcOrd="1" destOrd="0" presId="urn:microsoft.com/office/officeart/2018/2/layout/IconVerticalSolidList"/>
    <dgm:cxn modelId="{A4E46F79-8D73-442E-9D1B-B528567C1B39}" type="presParOf" srcId="{C2FBD3C6-B937-435C-99E1-CDE335BBF6CB}" destId="{A78AC1EC-AC24-41A7-88D3-6CF03CF86A47}" srcOrd="2" destOrd="0" presId="urn:microsoft.com/office/officeart/2018/2/layout/IconVerticalSolidList"/>
    <dgm:cxn modelId="{08EA7CC8-363C-48EE-9F60-0DCBA5B00DE8}" type="presParOf" srcId="{C2FBD3C6-B937-435C-99E1-CDE335BBF6CB}" destId="{15C3E0B6-BD47-41BF-98D1-F540A1A7E249}" srcOrd="3" destOrd="0" presId="urn:microsoft.com/office/officeart/2018/2/layout/IconVerticalSolidList"/>
    <dgm:cxn modelId="{BDFC0629-B221-4355-8757-FF8DAC98BD5A}" type="presParOf" srcId="{3C7FEB35-1FB3-464F-94A5-9C3FD31FCE9D}" destId="{2E20DE81-FD60-4FD9-9943-8DB433182DBB}" srcOrd="1" destOrd="0" presId="urn:microsoft.com/office/officeart/2018/2/layout/IconVerticalSolidList"/>
    <dgm:cxn modelId="{781D7622-24DD-402E-8814-39019946F6B3}" type="presParOf" srcId="{3C7FEB35-1FB3-464F-94A5-9C3FD31FCE9D}" destId="{3726166F-4C88-47D2-A07D-4E4EFB8E0089}" srcOrd="2" destOrd="0" presId="urn:microsoft.com/office/officeart/2018/2/layout/IconVerticalSolidList"/>
    <dgm:cxn modelId="{15886AD5-EAF0-4093-B64A-5BA62AF39D6E}" type="presParOf" srcId="{3726166F-4C88-47D2-A07D-4E4EFB8E0089}" destId="{74600670-4BA3-47E1-9EB6-662BDE812C30}" srcOrd="0" destOrd="0" presId="urn:microsoft.com/office/officeart/2018/2/layout/IconVerticalSolidList"/>
    <dgm:cxn modelId="{F265127A-5D75-4753-A71C-CBAD3DB46B9A}" type="presParOf" srcId="{3726166F-4C88-47D2-A07D-4E4EFB8E0089}" destId="{1CA4A171-8443-48A4-8757-6EFB8B0886E0}" srcOrd="1" destOrd="0" presId="urn:microsoft.com/office/officeart/2018/2/layout/IconVerticalSolidList"/>
    <dgm:cxn modelId="{C1524BFA-B4C1-4A16-9530-BA29F3F17AC8}" type="presParOf" srcId="{3726166F-4C88-47D2-A07D-4E4EFB8E0089}" destId="{F8D708F6-7133-4BFC-A222-2D9081367D9C}" srcOrd="2" destOrd="0" presId="urn:microsoft.com/office/officeart/2018/2/layout/IconVerticalSolidList"/>
    <dgm:cxn modelId="{201CD97E-F8B8-46F2-90C3-FAE405F35714}" type="presParOf" srcId="{3726166F-4C88-47D2-A07D-4E4EFB8E0089}" destId="{0B565DE4-8E61-4A19-811C-A71F7F6E4D2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9D66AF-C543-40D6-AF00-BB827B2291E6}">
      <dsp:nvSpPr>
        <dsp:cNvPr id="0" name=""/>
        <dsp:cNvSpPr/>
      </dsp:nvSpPr>
      <dsp:spPr>
        <a:xfrm>
          <a:off x="0" y="587899"/>
          <a:ext cx="10058399" cy="108535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68D3B4-D4A6-4011-9CEF-3879D1F4D769}">
      <dsp:nvSpPr>
        <dsp:cNvPr id="0" name=""/>
        <dsp:cNvSpPr/>
      </dsp:nvSpPr>
      <dsp:spPr>
        <a:xfrm>
          <a:off x="328319" y="832104"/>
          <a:ext cx="596944" cy="5969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C3E0B6-BD47-41BF-98D1-F540A1A7E249}">
      <dsp:nvSpPr>
        <dsp:cNvPr id="0" name=""/>
        <dsp:cNvSpPr/>
      </dsp:nvSpPr>
      <dsp:spPr>
        <a:xfrm>
          <a:off x="1253583" y="587899"/>
          <a:ext cx="8804816" cy="1085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867" tIns="114867" rIns="114867" bIns="11486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Scatterplots allow you to study the flow of the dots, or the relationship between the two variables</a:t>
          </a:r>
        </a:p>
      </dsp:txBody>
      <dsp:txXfrm>
        <a:off x="1253583" y="587899"/>
        <a:ext cx="8804816" cy="1085353"/>
      </dsp:txXfrm>
    </dsp:sp>
    <dsp:sp modelId="{74600670-4BA3-47E1-9EB6-662BDE812C30}">
      <dsp:nvSpPr>
        <dsp:cNvPr id="0" name=""/>
        <dsp:cNvSpPr/>
      </dsp:nvSpPr>
      <dsp:spPr>
        <a:xfrm>
          <a:off x="0" y="1944591"/>
          <a:ext cx="10058399" cy="108535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A4A171-8443-48A4-8757-6EFB8B0886E0}">
      <dsp:nvSpPr>
        <dsp:cNvPr id="0" name=""/>
        <dsp:cNvSpPr/>
      </dsp:nvSpPr>
      <dsp:spPr>
        <a:xfrm>
          <a:off x="328319" y="2188796"/>
          <a:ext cx="596944" cy="5969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565DE4-8E61-4A19-811C-A71F7F6E4D2C}">
      <dsp:nvSpPr>
        <dsp:cNvPr id="0" name=""/>
        <dsp:cNvSpPr/>
      </dsp:nvSpPr>
      <dsp:spPr>
        <a:xfrm>
          <a:off x="1253583" y="1944591"/>
          <a:ext cx="8804816" cy="1085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867" tIns="114867" rIns="114867" bIns="11486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Scatterplots allow political scientists to identify -- positive or negative relationships -- monotonic or linear relationships</a:t>
          </a:r>
        </a:p>
      </dsp:txBody>
      <dsp:txXfrm>
        <a:off x="1253583" y="1944591"/>
        <a:ext cx="8804816" cy="10853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A40E79-89AD-D145-B9CF-C9D2AC68BD56}" type="datetimeFigureOut">
              <a:rPr lang="en-US" smtClean="0"/>
              <a:t>6/28/25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4B594-6DC2-B841-A338-73A73A08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866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F955A-A277-4A37-AEF5-BA2A04800075}" type="datetimeFigureOut">
              <a:rPr lang="en-US" smtClean="0"/>
              <a:t>6/28/25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A0815467-37F0-441F-8AF2-1FA48DD12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441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F955A-A277-4A37-AEF5-BA2A04800075}" type="datetimeFigureOut">
              <a:rPr lang="en-US" smtClean="0"/>
              <a:t>6/28/25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5467-37F0-441F-8AF2-1FA48DD12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76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D0F955A-A277-4A37-AEF5-BA2A04800075}" type="datetimeFigureOut">
              <a:rPr lang="en-US" smtClean="0"/>
              <a:t>6/28/25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A0815467-37F0-441F-8AF2-1FA48DD12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44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F955A-A277-4A37-AEF5-BA2A04800075}" type="datetimeFigureOut">
              <a:rPr lang="en-US" smtClean="0"/>
              <a:t>6/28/25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5467-37F0-441F-8AF2-1FA48DD12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26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F955A-A277-4A37-AEF5-BA2A04800075}" type="datetimeFigureOut">
              <a:rPr lang="en-US" smtClean="0"/>
              <a:t>6/28/25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5467-37F0-441F-8AF2-1FA48DD12A1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2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F955A-A277-4A37-AEF5-BA2A04800075}" type="datetimeFigureOut">
              <a:rPr lang="en-US" smtClean="0"/>
              <a:t>6/28/25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5467-37F0-441F-8AF2-1FA48DD12A1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73271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F955A-A277-4A37-AEF5-BA2A04800075}" type="datetimeFigureOut">
              <a:rPr lang="en-US" smtClean="0"/>
              <a:t>6/28/25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5467-37F0-441F-8AF2-1FA48DD12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136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F955A-A277-4A37-AEF5-BA2A04800075}" type="datetimeFigureOut">
              <a:rPr lang="en-US" smtClean="0"/>
              <a:t>6/28/25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5467-37F0-441F-8AF2-1FA48DD12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2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F955A-A277-4A37-AEF5-BA2A04800075}" type="datetimeFigureOut">
              <a:rPr lang="en-US" smtClean="0"/>
              <a:t>6/28/25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5467-37F0-441F-8AF2-1FA48DD12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5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F955A-A277-4A37-AEF5-BA2A04800075}" type="datetimeFigureOut">
              <a:rPr lang="en-US" smtClean="0"/>
              <a:t>6/28/25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5467-37F0-441F-8AF2-1FA48DD12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56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F955A-A277-4A37-AEF5-BA2A04800075}" type="datetimeFigureOut">
              <a:rPr lang="en-US" smtClean="0"/>
              <a:t>6/28/25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5467-37F0-441F-8AF2-1FA48DD12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22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D0F955A-A277-4A37-AEF5-BA2A04800075}" type="datetimeFigureOut">
              <a:rPr lang="en-US" smtClean="0"/>
              <a:t>6/28/25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A0815467-37F0-441F-8AF2-1FA48DD12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32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2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8205" y="1802811"/>
            <a:ext cx="9144000" cy="2387600"/>
          </a:xfrm>
        </p:spPr>
        <p:txBody>
          <a:bodyPr>
            <a:noAutofit/>
          </a:bodyPr>
          <a:lstStyle/>
          <a:p>
            <a:r>
              <a:rPr lang="en-US" sz="4800" b="1" dirty="0"/>
              <a:t>Regression analysis</a:t>
            </a:r>
            <a:br>
              <a:rPr lang="en-US" sz="4800" b="1" dirty="0"/>
            </a:br>
            <a:endParaRPr lang="en-US" sz="4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Dr. Hemang Subramanian</a:t>
            </a:r>
          </a:p>
          <a:p>
            <a:r>
              <a:rPr lang="en-US" dirty="0"/>
              <a:t>Associate Professor &amp; Director </a:t>
            </a:r>
          </a:p>
          <a:p>
            <a:r>
              <a:rPr lang="en-US" dirty="0"/>
              <a:t>Information Systems and Business Analytics</a:t>
            </a:r>
          </a:p>
        </p:txBody>
      </p:sp>
    </p:spTree>
    <p:extLst>
      <p:ext uri="{BB962C8B-B14F-4D97-AF65-F5344CB8AC3E}">
        <p14:creationId xmlns:p14="http://schemas.microsoft.com/office/powerpoint/2010/main" val="3998134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6DBFAD4-B5FC-442B-A283-381B01B19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B649DC7-8769-4383-A6F2-8F366BA7A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C67FD53-2686-4E0E-BA49-976F78F9A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9C8D586-1ECD-4981-BED2-97336112C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4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alculus formula">
            <a:extLst>
              <a:ext uri="{FF2B5EF4-FFF2-40B4-BE49-F238E27FC236}">
                <a16:creationId xmlns:a16="http://schemas.microsoft.com/office/drawing/2014/main" id="{A5FB4A7D-8A9A-23F2-CE4C-DED274BD94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455" r="23498" b="-1"/>
          <a:stretch>
            <a:fillRect/>
          </a:stretch>
        </p:blipFill>
        <p:spPr>
          <a:xfrm>
            <a:off x="1" y="10"/>
            <a:ext cx="6066502" cy="68579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7421BD-210D-2F36-2C80-39DA0BFBFE2F}"/>
              </a:ext>
            </a:extLst>
          </p:cNvPr>
          <p:cNvSpPr txBox="1"/>
          <p:nvPr/>
        </p:nvSpPr>
        <p:spPr>
          <a:xfrm>
            <a:off x="6400799" y="2121408"/>
            <a:ext cx="5299585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3464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dirty="0">
                <a:effectLst/>
              </a:rPr>
              <a:t>Objective of the Module</a:t>
            </a:r>
          </a:p>
          <a:p>
            <a:pPr marL="283464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dirty="0">
                <a:effectLst/>
              </a:rPr>
              <a:t>Definition of regression analysis</a:t>
            </a:r>
          </a:p>
          <a:p>
            <a:pPr marL="283464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dirty="0">
                <a:effectLst/>
              </a:rPr>
              <a:t>Types of regression models</a:t>
            </a:r>
          </a:p>
          <a:p>
            <a:pPr marL="283464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dirty="0">
                <a:effectLst/>
              </a:rPr>
              <a:t>Visualizing relationships</a:t>
            </a:r>
          </a:p>
          <a:p>
            <a:pPr marL="283464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dirty="0">
                <a:effectLst/>
              </a:rPr>
              <a:t>Linear equations – the basis of regression</a:t>
            </a:r>
          </a:p>
          <a:p>
            <a:pPr marL="283464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dirty="0">
                <a:effectLst/>
              </a:rPr>
              <a:t>The regression model and multiple regression techniques</a:t>
            </a:r>
          </a:p>
          <a:p>
            <a:pPr marL="283464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dirty="0">
                <a:effectLst/>
              </a:rPr>
              <a:t>Testing hypotheses</a:t>
            </a:r>
          </a:p>
          <a:p>
            <a:pPr marL="283464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dirty="0">
                <a:effectLst/>
              </a:rPr>
              <a:t>Key statistical metrics</a:t>
            </a:r>
          </a:p>
          <a:p>
            <a:pPr marL="283464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dirty="0">
                <a:effectLst/>
              </a:rPr>
              <a:t>Significance of P-values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F001A23-2767-4A31-BD30-56112DE95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6BD30CE-7C6B-4C5B-8206-2A912062D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FA45EC6-AD58-4CAF-846D-46D82B614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9205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64958D-AF5D-4863-B5FB-83F6B8CB1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12188656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0109" y="484632"/>
            <a:ext cx="6730277" cy="1609344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/>
              <a:t>Objective</a:t>
            </a:r>
          </a:p>
        </p:txBody>
      </p:sp>
      <p:pic>
        <p:nvPicPr>
          <p:cNvPr id="6" name="Picture 5" descr="Camera lens close up">
            <a:extLst>
              <a:ext uri="{FF2B5EF4-FFF2-40B4-BE49-F238E27FC236}">
                <a16:creationId xmlns:a16="http://schemas.microsoft.com/office/drawing/2014/main" id="{32F6177A-21B9-3A71-B008-F21CD08BAA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105" r="34667" b="-1"/>
          <a:stretch>
            <a:fillRect/>
          </a:stretch>
        </p:blipFill>
        <p:spPr>
          <a:xfrm>
            <a:off x="3344" y="10"/>
            <a:ext cx="4646726" cy="68579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970109" y="2121408"/>
            <a:ext cx="6730276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-182880" algn="l" rtl="0" eaLnBrk="1" latinLnBrk="0" hangingPunct="1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Describe how predictors (explanatory variables) relate to the outcome variable.</a:t>
            </a:r>
          </a:p>
          <a:p>
            <a:pPr marL="0" indent="-182880" algn="l" rtl="0" eaLnBrk="1" latinLnBrk="0" hangingPunct="1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Common applications of regression in data analysis.</a:t>
            </a:r>
          </a:p>
          <a:p>
            <a:pPr marL="0" indent="-182880" algn="l" rtl="0" eaLnBrk="1" latinLnBrk="0" hangingPunct="1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Understanding hypotheses: Null and Alternative hypotheses.</a:t>
            </a:r>
          </a:p>
          <a:p>
            <a:pPr marL="0" indent="-182880" algn="l" rtl="0" eaLnBrk="1" latinLnBrk="0" hangingPunct="1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Indicators of "goodness-of-fit": p-values, t-statistics, F-statistics, and R-squared values.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1002ACD-3B0C-4885-8754-8A00E926F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0313CD-4196-4456-A70D-5EE2B995B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0DE0B32-9EE8-4975-AD48-3855B0A82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1973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What is regression analysis?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9848" y="2320412"/>
            <a:ext cx="10058400" cy="3851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3464" indent="-182880" algn="l" rtl="0" eaLnBrk="1" latinLnBrk="0" hangingPunct="1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Regression analysis</a:t>
            </a:r>
            <a:r>
              <a:rPr lang="en-US" sz="18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 is a technique employed to evaluate the relationship between two variables measured on an interval or ratio scale.</a:t>
            </a:r>
          </a:p>
          <a:p>
            <a:pPr marL="283464" indent="-182880" algn="l" rtl="0" eaLnBrk="1" latinLnBrk="0" hangingPunct="1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This method is essential for research within the fields of empirical social and political sciences.</a:t>
            </a:r>
          </a:p>
          <a:p>
            <a:pPr marL="283464" indent="-182880" algn="l" rtl="0" eaLnBrk="1" latinLnBrk="0" hangingPunct="1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Serving as a statistical alternative to controlled experiments, regression analysis allows researchers to infer causal relationships.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0485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Regression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Researchers convert verbal theories, hypotheses, and insights into structured models.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A model illustrates the connections between two or more variables and the circumstances under which they interact.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A regression model that consists of one dependent variable and one independent variable is termed a </a:t>
            </a:r>
            <a:r>
              <a:rPr lang="en-US" sz="2000" b="1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bivariate regression model</a:t>
            </a: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A regression model that incorporates a </a:t>
            </a:r>
            <a:r>
              <a:rPr lang="en-US" sz="2000" b="1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dependent variable</a:t>
            </a: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 alongside two or more independent variables and/or control variables is identified as a </a:t>
            </a:r>
            <a:r>
              <a:rPr lang="en-US" sz="2000" b="1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multivariate regression model</a:t>
            </a: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This model may also be known as multi-variable regression or multiple regressions.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274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Graphically deducing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A scatterplot visualizes sample data points by positioning them within the X,Y coordinate system.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Typically, the X axis displays the values of the independent variable, while the Y axis shows the values of the dependent variable.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The X axis runs horizontally, whereas the Y axis is arranged vertically.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838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b="1" dirty="0"/>
              <a:t>Scatterplots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5515A3-3103-64CF-3859-57C64DB1D8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84859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840526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 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548297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317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 example 2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2225" y="2559050"/>
            <a:ext cx="45339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66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Equation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A linear equation is represented as follows: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Y = bX + a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In this formula, Y symbolizes the dependent variable, X signifies the independent variable, and a represents the constant (the value of Y when X is zero).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The term b refers to the slope of the regression line.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b="1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(What information does the slope provide?)</a:t>
            </a:r>
            <a:endParaRPr lang="en-US" sz="2000">
              <a:solidFill>
                <a:srgbClr val="000000"/>
              </a:solidFill>
              <a:effectLst/>
              <a:latin typeface="Rockwell" panose="02060603020205020403" pitchFamily="18" charset="77"/>
            </a:endParaRP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The value a is known as the Y-intercept.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410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The value of </a:t>
            </a:r>
            <a:r>
              <a:rPr lang="en-US" sz="2000" b="1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a</a:t>
            </a: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 can be either positive or negative. In high school algebra, a is often referred to as the intercept, as it represents the point where the slope line intersects the Y axis.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The coefficient </a:t>
            </a:r>
            <a:r>
              <a:rPr lang="en-US" sz="2000" b="1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b</a:t>
            </a: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 (the slope) can also be positive or negative. A positive slope indicates a positive correlation, while a negative slope indicates a negative correlation.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The meaningful interpretation of the </a:t>
            </a:r>
            <a:r>
              <a:rPr lang="en-US" sz="2000" b="1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slope coefficient</a:t>
            </a: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 is influenced by the specific variables at play, their coding, and the scale used for these variables. While larger coefficients might suggest a stronger relationship, this is not always the case.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038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Regression analysis aims to identify an equation that provides the closest match to the data.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In this process, an equation is determined so that its graphical representation forms a line that reduces the squared differences in vertical distance between the data points and the line itself.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44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d1 and d2 denote the distances of the observed data points from an estimated regression line.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Regression analysis </a:t>
            </a: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employs a mathematical method that identifies the one line which minimizes the squared distances from that line.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532" y="4001294"/>
            <a:ext cx="23241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13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Regressions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The standard regression equation resembles a linear equation, differing only by the inclusion of the error term.</a:t>
            </a: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Y = </a:t>
            </a:r>
            <a:r>
              <a:rPr lang="el-GR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α + β</a:t>
            </a: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X + </a:t>
            </a:r>
            <a:r>
              <a:rPr lang="el-GR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ε</a:t>
            </a: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Here, Y represents the dependent variables (Matrix),</a:t>
            </a: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1200"/>
              </a:spcBef>
              <a:buNone/>
            </a:pPr>
            <a:r>
              <a:rPr lang="el-GR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α </a:t>
            </a: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denotes the constant term,</a:t>
            </a: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1200"/>
              </a:spcBef>
              <a:buNone/>
            </a:pPr>
            <a:r>
              <a:rPr lang="el-GR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β </a:t>
            </a: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indicates the slope or regression coefficient,</a:t>
            </a: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X stands for the independent variable (Matrix),</a:t>
            </a: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and </a:t>
            </a:r>
            <a:r>
              <a:rPr lang="el-GR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ε </a:t>
            </a:r>
            <a:r>
              <a:rPr lang="en-US" sz="20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is the error term.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458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Regression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</a:t>
            </a:r>
            <a:r>
              <a:rPr lang="en-US" b="1" dirty="0"/>
              <a:t>regression procedure </a:t>
            </a:r>
            <a:r>
              <a:rPr lang="en-US" dirty="0"/>
              <a:t>is known as </a:t>
            </a:r>
            <a:r>
              <a:rPr lang="en-US" b="1" dirty="0"/>
              <a:t>ordinary least squares (OLS).</a:t>
            </a:r>
          </a:p>
          <a:p>
            <a:pPr marL="0" indent="0">
              <a:buNone/>
            </a:pPr>
            <a:r>
              <a:rPr lang="en-US" dirty="0"/>
              <a:t>α (the constant term) is interpreted the same as before</a:t>
            </a:r>
          </a:p>
          <a:p>
            <a:pPr marL="0" indent="0">
              <a:buNone/>
            </a:pPr>
            <a:r>
              <a:rPr lang="en-US" dirty="0"/>
              <a:t>β (the regression coefficient) tells how much Y changes if X changes by one unit.</a:t>
            </a:r>
          </a:p>
          <a:p>
            <a:pPr marL="0" indent="0">
              <a:buNone/>
            </a:pPr>
            <a:r>
              <a:rPr lang="el-GR" dirty="0"/>
              <a:t>ε</a:t>
            </a:r>
            <a:r>
              <a:rPr lang="en-US" dirty="0"/>
              <a:t> (the error term) tells how much of an error there is in this calculation.</a:t>
            </a:r>
          </a:p>
          <a:p>
            <a:pPr marL="0" indent="0">
              <a:buNone/>
            </a:pPr>
            <a:r>
              <a:rPr lang="en-US" dirty="0"/>
              <a:t>The regression coefficient indicates the direction and strength of the relationship between the two quantitative variables.</a:t>
            </a:r>
          </a:p>
        </p:txBody>
      </p:sp>
    </p:spTree>
    <p:extLst>
      <p:ext uri="{BB962C8B-B14F-4D97-AF65-F5344CB8AC3E}">
        <p14:creationId xmlns:p14="http://schemas.microsoft.com/office/powerpoint/2010/main" val="466657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9C29C-E461-D349-B7FA-D28974B65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5C927-6EA0-7F48-8A7D-77A6FF7F9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Step 1: Lets do the assignment.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Step 2: We will set the Y = </a:t>
            </a:r>
            <a:r>
              <a:rPr lang="en-US" dirty="0" err="1"/>
              <a:t>Retail.Price</a:t>
            </a:r>
            <a:r>
              <a:rPr lang="en-US" dirty="0"/>
              <a:t> and X = </a:t>
            </a:r>
            <a:r>
              <a:rPr lang="en-US" dirty="0" err="1"/>
              <a:t>HDSize</a:t>
            </a:r>
            <a:r>
              <a:rPr lang="en-US" dirty="0"/>
              <a:t> &amp; RAM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Step 3: We will obtain the coefficients of regression and analyze the results.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Step 4: We will try to predict the values of Prize based on </a:t>
            </a:r>
            <a:r>
              <a:rPr lang="en-US" dirty="0" err="1"/>
              <a:t>HDSize</a:t>
            </a:r>
            <a:r>
              <a:rPr lang="en-US" dirty="0"/>
              <a:t> &amp; RAM.</a:t>
            </a:r>
          </a:p>
        </p:txBody>
      </p:sp>
    </p:spTree>
    <p:extLst>
      <p:ext uri="{BB962C8B-B14F-4D97-AF65-F5344CB8AC3E}">
        <p14:creationId xmlns:p14="http://schemas.microsoft.com/office/powerpoint/2010/main" val="2943069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99CA-1DE7-9544-93CF-1B5DDE7FD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4CE9C-4A20-FD40-BAA6-7B2709928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Null Hypothesis</a:t>
            </a:r>
          </a:p>
          <a:p>
            <a:pPr marL="0" indent="0">
              <a:buNone/>
            </a:pPr>
            <a:r>
              <a:rPr lang="en-US" b="1" dirty="0"/>
              <a:t>The coefficient </a:t>
            </a:r>
            <a:r>
              <a:rPr lang="el-GR" b="1" dirty="0"/>
              <a:t>β</a:t>
            </a:r>
            <a:r>
              <a:rPr lang="en-US" b="1" dirty="0"/>
              <a:t> is NULL. </a:t>
            </a:r>
          </a:p>
          <a:p>
            <a:pPr marL="0" indent="0">
              <a:buNone/>
            </a:pPr>
            <a:r>
              <a:rPr lang="en-US" dirty="0"/>
              <a:t> ( In simpler terms - This means that HD Size is not correlated with Price in a statistically significant way). </a:t>
            </a:r>
          </a:p>
          <a:p>
            <a:endParaRPr lang="en-US" dirty="0"/>
          </a:p>
          <a:p>
            <a:r>
              <a:rPr lang="en-US" dirty="0"/>
              <a:t>Alternative Hypothesis</a:t>
            </a:r>
          </a:p>
          <a:p>
            <a:pPr marL="0" indent="0">
              <a:buNone/>
            </a:pPr>
            <a:r>
              <a:rPr lang="en-US" b="1" dirty="0"/>
              <a:t>The coefficient </a:t>
            </a:r>
            <a:r>
              <a:rPr lang="el-GR" b="1" dirty="0"/>
              <a:t>β</a:t>
            </a:r>
            <a:r>
              <a:rPr lang="en-US" b="1" dirty="0"/>
              <a:t> is NOT NULL. </a:t>
            </a:r>
          </a:p>
          <a:p>
            <a:pPr marL="0" indent="0">
              <a:buNone/>
            </a:pPr>
            <a:r>
              <a:rPr lang="en-US" dirty="0"/>
              <a:t>(In Simpler terms – HD Size is correlated with Price in a statistically significant way)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136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57E5-4AD2-B424-495A-AD323E688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2EEB72-FC65-0246-14E7-153E2A2047ED}"/>
              </a:ext>
            </a:extLst>
          </p:cNvPr>
          <p:cNvSpPr txBox="1"/>
          <p:nvPr/>
        </p:nvSpPr>
        <p:spPr>
          <a:xfrm>
            <a:off x="607742" y="2014335"/>
            <a:ext cx="819057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Linear Regression with Price as the Dependent Variable and RAM, HD Size as Independent Variables</a:t>
            </a:r>
          </a:p>
          <a:p>
            <a:pPr marL="0" indent="0" algn="l" rtl="0" eaLnBrk="1" latinLnBrk="0" hangingPunct="1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print("\n Executing linear regression with Price as the dependent variable and RAM, HD Size as independent variables...")</a:t>
            </a:r>
          </a:p>
          <a:p>
            <a:pPr marL="0" indent="0" algn="l" rtl="0" eaLnBrk="1" latinLnBrk="0" hangingPunct="1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X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df</a:t>
            </a:r>
            <a:r>
              <a:rPr lang="en-US" sz="18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[["RAM (GB)", "HD Size (GB)"]]</a:t>
            </a:r>
          </a:p>
          <a:p>
            <a:pPr marL="0" indent="0" algn="l" rtl="0" eaLnBrk="1" latinLnBrk="0" hangingPunct="1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y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df</a:t>
            </a:r>
            <a:r>
              <a:rPr lang="en-US" sz="18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["Retail Price"]</a:t>
            </a:r>
          </a:p>
          <a:p>
            <a:pPr marL="0" indent="0" algn="l" rtl="0" eaLnBrk="1" latinLnBrk="0" hangingPunct="1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Include a constant in the predictor variables</a:t>
            </a:r>
          </a:p>
          <a:p>
            <a:pPr marL="0" indent="0" algn="l" rtl="0" eaLnBrk="1" latinLnBrk="0" hangingPunct="1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X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sm.add_constant</a:t>
            </a:r>
            <a:r>
              <a:rPr lang="en-US" sz="18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(X)</a:t>
            </a:r>
          </a:p>
          <a:p>
            <a:pPr marL="0" indent="0" algn="l" rtl="0" eaLnBrk="1" latinLnBrk="0" hangingPunct="1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Fit the regression model</a:t>
            </a:r>
          </a:p>
          <a:p>
            <a:pPr marL="0" indent="0" algn="l" rtl="0" eaLnBrk="1" latinLnBrk="0" hangingPunct="1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model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sm.OLS</a:t>
            </a:r>
            <a:r>
              <a:rPr lang="en-US" sz="18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(y, X).fit()</a:t>
            </a:r>
          </a:p>
          <a:p>
            <a:pPr marL="0" indent="0" algn="l" rtl="0" eaLnBrk="1" latinLnBrk="0" hangingPunct="1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Display the regression results</a:t>
            </a:r>
          </a:p>
          <a:p>
            <a:pPr marL="0" indent="0" algn="l" rtl="0" eaLnBrk="1" latinLnBrk="0" hangingPunct="1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print(</a:t>
            </a:r>
            <a:r>
              <a:rPr lang="en-US" sz="1800" dirty="0" err="1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model.summary</a:t>
            </a:r>
            <a:r>
              <a:rPr lang="en-US" sz="1800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())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647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4C7C-014C-3E45-A843-193184F1A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 Values of significance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CCFA4BB-A3D3-2E1C-36EB-520ECBDA16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3425" y="2093976"/>
            <a:ext cx="8869062" cy="4051300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F1B0E110-D911-D0C7-E5A7-4A696BFB985E}"/>
              </a:ext>
            </a:extLst>
          </p:cNvPr>
          <p:cNvSpPr/>
          <p:nvPr/>
        </p:nvSpPr>
        <p:spPr>
          <a:xfrm>
            <a:off x="1069848" y="4348976"/>
            <a:ext cx="703196" cy="5464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20478C99-6E34-F1A5-1434-1882462FB0F1}"/>
              </a:ext>
            </a:extLst>
          </p:cNvPr>
          <p:cNvSpPr/>
          <p:nvPr/>
        </p:nvSpPr>
        <p:spPr>
          <a:xfrm rot="17750755">
            <a:off x="2472339" y="4789089"/>
            <a:ext cx="1238248" cy="10482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39530D94-C2C5-1B2A-4E35-186CA594E88F}"/>
              </a:ext>
            </a:extLst>
          </p:cNvPr>
          <p:cNvSpPr/>
          <p:nvPr/>
        </p:nvSpPr>
        <p:spPr>
          <a:xfrm rot="17750755">
            <a:off x="5133764" y="4789088"/>
            <a:ext cx="1238248" cy="10482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4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0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C2FB5-7B33-414A-8216-3999B63F5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statistical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E7406-B239-1A49-B9AA-4D9DEA7AF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p-values</a:t>
            </a:r>
          </a:p>
          <a:p>
            <a:r>
              <a:rPr lang="en-US" dirty="0"/>
              <a:t>t-values</a:t>
            </a:r>
          </a:p>
          <a:p>
            <a:r>
              <a:rPr lang="en-US" dirty="0"/>
              <a:t>f-values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492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77B58-73F2-3D42-8C99-50D3A0D0F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3CBF6-324F-EB45-A58C-A4EA77054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The summary statistics offer various insights.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Among these insights is the model p-Value (located at the bottom of the last line) as well as the p-Values for individual predictor variables (found in the rightmost column under ‘Coefficients’).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p-Values are crucial because a linear model can only be regarded as statistically significant when both p-Values fall below the predetermined significance level, which is usually set at 0.05.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This is visually depicted by the significance stars at the end of each row. The more stars present next to a variable's p-Value, the more significant that variable is considered.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307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25C69-AE52-7744-996C-58E34D2C1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13C0B-1799-1D40-B658-AFE284995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986844"/>
            <a:ext cx="10058400" cy="4185356"/>
          </a:xfrm>
        </p:spPr>
        <p:txBody>
          <a:bodyPr>
            <a:normAutofit/>
          </a:bodyPr>
          <a:lstStyle/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A larger </a:t>
            </a:r>
            <a:r>
              <a:rPr lang="en-US" sz="2000" i="1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t-value</a:t>
            </a: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 suggests that the likelihood of the coefficient being zero due to random chance is lower. Therefore, a higher t-value is preferable.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i="1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Pr(&gt;|t|)</a:t>
            </a: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, also known as the </a:t>
            </a:r>
            <a:r>
              <a:rPr lang="en-US" sz="2000" i="1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p-value</a:t>
            </a: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, represents the probability of obtaining a t-value as large or larger than the one observed, assuming the Null Hypothesis is true.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This Null Hypothesis posits that the </a:t>
            </a:r>
            <a:r>
              <a:rPr lang="el-GR" sz="2000" i="1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β</a:t>
            </a:r>
            <a:r>
              <a:rPr lang="el-GR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coefficient is zero, indicating no relationship.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Consequently, if </a:t>
            </a:r>
            <a:r>
              <a:rPr lang="en-US" sz="2000" i="1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Pr(&gt;|t|)</a:t>
            </a: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 is low, the coefficients are deemed significant (meaning they are notably different from zero).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Conversely, a high </a:t>
            </a:r>
            <a:r>
              <a:rPr lang="en-US" sz="2000" i="1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Pr(&gt;|t|)</a:t>
            </a: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 indicates that the coefficients lack significance.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381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EE6B-2B82-1B4F-B828-CBEEA0F65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to PREDICT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FA99F4-254B-8A47-A860-44ABEFF7A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values of Beta and Alpha with error to predict the actual values only if p is significant.</a:t>
            </a:r>
          </a:p>
        </p:txBody>
      </p:sp>
    </p:spTree>
    <p:extLst>
      <p:ext uri="{BB962C8B-B14F-4D97-AF65-F5344CB8AC3E}">
        <p14:creationId xmlns:p14="http://schemas.microsoft.com/office/powerpoint/2010/main" val="3546046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69794-57E0-BE4B-89D0-57F0D9CDD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8C828-B25D-FD41-BC9D-074D9CC70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What implications does this have for us?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When the p-value is less than the significance threshold (&lt;0.05), we have enough evidence to reject the null hypothesis, which states that the coefficient </a:t>
            </a:r>
            <a:r>
              <a:rPr lang="el-GR" sz="2000" i="1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β</a:t>
            </a:r>
            <a:r>
              <a:rPr lang="el-GR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of the predictor is zero.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In this case, both p-values are considerably below the 0.05 threshold, enabling us to determine that our model holds statistical significance.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582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300FA-D6B7-324F-A30F-F3605A9A8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23CD3-C0C9-CE45-8598-7203198AF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f-statistic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R-squared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More complex models applied to the same dataset.</a:t>
            </a:r>
          </a:p>
          <a:p>
            <a:pPr marL="182880" indent="-182880" algn="l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Attempt predictions using both the training set and the prediction set derived from the same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9764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{4FEE3FFD-65BB-8140-8812-FC5BF98F383C}tf10001070</Template>
  <TotalTime>345</TotalTime>
  <Words>1357</Words>
  <Application>Microsoft Macintosh PowerPoint</Application>
  <PresentationFormat>Widescreen</PresentationFormat>
  <Paragraphs>125</Paragraphs>
  <Slides>25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Arial</vt:lpstr>
      <vt:lpstr>Calibri</vt:lpstr>
      <vt:lpstr>Rockwell</vt:lpstr>
      <vt:lpstr>Rockwell Condensed</vt:lpstr>
      <vt:lpstr>Rockwell Extra Bold</vt:lpstr>
      <vt:lpstr>Wingdings</vt:lpstr>
      <vt:lpstr>Wood Type</vt:lpstr>
      <vt:lpstr>Regression analysis </vt:lpstr>
      <vt:lpstr>PowerPoint Presentation</vt:lpstr>
      <vt:lpstr>Objective</vt:lpstr>
      <vt:lpstr>What is regression analysis?</vt:lpstr>
      <vt:lpstr>Regression models</vt:lpstr>
      <vt:lpstr>Graphically deducing relationships</vt:lpstr>
      <vt:lpstr>Scatterplots</vt:lpstr>
      <vt:lpstr>Scatterplot Example</vt:lpstr>
      <vt:lpstr>Scatterplot example 2</vt:lpstr>
      <vt:lpstr>Linear Equation </vt:lpstr>
      <vt:lpstr>Regression Equation</vt:lpstr>
      <vt:lpstr>The Regression model</vt:lpstr>
      <vt:lpstr>Regression model</vt:lpstr>
      <vt:lpstr>Regressions representation</vt:lpstr>
      <vt:lpstr>Regression continued</vt:lpstr>
      <vt:lpstr>Regression in Python</vt:lpstr>
      <vt:lpstr>Hypothesis</vt:lpstr>
      <vt:lpstr>Python Code</vt:lpstr>
      <vt:lpstr>P Values of significance</vt:lpstr>
      <vt:lpstr>Important statistical values</vt:lpstr>
      <vt:lpstr>Statistical values</vt:lpstr>
      <vt:lpstr>t-values</vt:lpstr>
      <vt:lpstr>Use to PREDICT</vt:lpstr>
      <vt:lpstr>Interpretation 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analysis OLS (Approaching Linear Fit,etc.)</dc:title>
  <dc:creator>Hemang Subramanian</dc:creator>
  <cp:lastModifiedBy>Hemang Subramanian</cp:lastModifiedBy>
  <cp:revision>16</cp:revision>
  <dcterms:created xsi:type="dcterms:W3CDTF">2018-01-22T21:37:14Z</dcterms:created>
  <dcterms:modified xsi:type="dcterms:W3CDTF">2025-06-28T15:27:21Z</dcterms:modified>
</cp:coreProperties>
</file>
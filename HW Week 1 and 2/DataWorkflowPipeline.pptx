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77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20125" y="3433763"/>
            <a:ext cx="1047750" cy="381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40645" y="2100262"/>
            <a:ext cx="855896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Science Workflow &amp; Pipeline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8620125" y="6100763"/>
            <a:ext cx="1047750" cy="28575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7914" y="6472238"/>
            <a:ext cx="863738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kern="0" spc="38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→ Transformation → Analysis → Insight</a:t>
            </a:r>
            <a:endParaRPr lang="en-US" sz="25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C1F15-DB29-12F2-CC74-084B2EF49CDF}"/>
              </a:ext>
            </a:extLst>
          </p:cNvPr>
          <p:cNvSpPr txBox="1"/>
          <p:nvPr/>
        </p:nvSpPr>
        <p:spPr>
          <a:xfrm>
            <a:off x="5217914" y="7824866"/>
            <a:ext cx="7208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Dr. Hemang Subramanian, Ph.D.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228725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8200" y="266700"/>
            <a:ext cx="1827276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65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Concepts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134475" y="1724025"/>
            <a:ext cx="19050" cy="73247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8200" y="1724025"/>
            <a:ext cx="57150" cy="4953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1733550"/>
            <a:ext cx="43984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838200" y="2619375"/>
            <a:ext cx="95250" cy="9525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85850" y="2524125"/>
            <a:ext cx="65073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cycle from raw data to business decisions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38200" y="3143250"/>
            <a:ext cx="95250" cy="9525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85850" y="3048000"/>
            <a:ext cx="477151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stages integrated and documented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38200" y="3667125"/>
            <a:ext cx="95250" cy="9525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85850" y="3571875"/>
            <a:ext cx="34523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and traceable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38200" y="4191000"/>
            <a:ext cx="95250" cy="9525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85850" y="4095750"/>
            <a:ext cx="34148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 at each stage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648825" y="1724025"/>
            <a:ext cx="57150" cy="49530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58375" y="1733550"/>
            <a:ext cx="267389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9648825" y="2619375"/>
            <a:ext cx="95250" cy="9525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96475" y="2524125"/>
            <a:ext cx="38820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of automated processes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648825" y="3143250"/>
            <a:ext cx="95250" cy="9525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96475" y="3048000"/>
            <a:ext cx="51847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flows through transformation stages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648825" y="3667125"/>
            <a:ext cx="95250" cy="9525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96475" y="3571875"/>
            <a:ext cx="29955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at each stage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648825" y="4191000"/>
            <a:ext cx="95250" cy="9525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96475" y="4095750"/>
            <a:ext cx="39140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tools &amp; technologies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838200" y="9391650"/>
            <a:ext cx="2031653" cy="5524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76300" y="9534525"/>
            <a:ext cx="19554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869853" y="9391650"/>
            <a:ext cx="398264" cy="552450"/>
          </a:xfrm>
          <a:prstGeom prst="rect">
            <a:avLst/>
          </a:prstGeom>
          <a:solidFill>
            <a:srgbClr val="1A4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65103" y="9391650"/>
            <a:ext cx="2839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68117" y="9391650"/>
            <a:ext cx="2031802" cy="55245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06217" y="9534525"/>
            <a:ext cx="19556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299918" y="9391650"/>
            <a:ext cx="398264" cy="552450"/>
          </a:xfrm>
          <a:prstGeom prst="rect">
            <a:avLst/>
          </a:prstGeom>
          <a:solidFill>
            <a:srgbClr val="1A4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95168" y="9391650"/>
            <a:ext cx="2839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698182" y="9391650"/>
            <a:ext cx="2031653" cy="55245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36282" y="9534525"/>
            <a:ext cx="19554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Wrangling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729835" y="9391650"/>
            <a:ext cx="398264" cy="552450"/>
          </a:xfrm>
          <a:prstGeom prst="rect">
            <a:avLst/>
          </a:prstGeom>
          <a:solidFill>
            <a:srgbClr val="1A4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825085" y="9391650"/>
            <a:ext cx="2839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128099" y="9391650"/>
            <a:ext cx="2031802" cy="55245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166199" y="9534525"/>
            <a:ext cx="19556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159901" y="9391650"/>
            <a:ext cx="398264" cy="552450"/>
          </a:xfrm>
          <a:prstGeom prst="rect">
            <a:avLst/>
          </a:prstGeom>
          <a:solidFill>
            <a:srgbClr val="1A4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255151" y="9391650"/>
            <a:ext cx="2839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558165" y="9391650"/>
            <a:ext cx="2031653" cy="55245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596265" y="9534525"/>
            <a:ext cx="19554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589818" y="9391650"/>
            <a:ext cx="398264" cy="552450"/>
          </a:xfrm>
          <a:prstGeom prst="rect">
            <a:avLst/>
          </a:prstGeom>
          <a:solidFill>
            <a:srgbClr val="1A4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2685068" y="9391650"/>
            <a:ext cx="2839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2988082" y="9391650"/>
            <a:ext cx="2031802" cy="55245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3026182" y="9534525"/>
            <a:ext cx="19556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019883" y="9391650"/>
            <a:ext cx="398264" cy="552450"/>
          </a:xfrm>
          <a:prstGeom prst="rect">
            <a:avLst/>
          </a:prstGeom>
          <a:solidFill>
            <a:srgbClr val="1A4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5115133" y="9391650"/>
            <a:ext cx="2839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418147" y="9391650"/>
            <a:ext cx="2031653" cy="5524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5456247" y="9534525"/>
            <a:ext cx="19554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" y="533400"/>
            <a:ext cx="1827276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65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5-Stage Data Science Pipeline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838200" y="4333875"/>
            <a:ext cx="2868216" cy="2771775"/>
          </a:xfrm>
          <a:prstGeom prst="roundRect">
            <a:avLst>
              <a:gd name="adj" fmla="val 412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38200" y="4333875"/>
            <a:ext cx="2868216" cy="47625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4900" y="4724400"/>
            <a:ext cx="514350" cy="51435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6800" y="47244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04900" y="5429250"/>
            <a:ext cx="25682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04900" y="5791200"/>
            <a:ext cx="2568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04900" y="6210300"/>
            <a:ext cx="25682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544 locations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04900" y="6496050"/>
            <a:ext cx="2568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counties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58816" y="5553075"/>
            <a:ext cx="3194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273897" y="4333875"/>
            <a:ext cx="2868364" cy="2771775"/>
          </a:xfrm>
          <a:prstGeom prst="roundRect">
            <a:avLst>
              <a:gd name="adj" fmla="val 412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73897" y="4333875"/>
            <a:ext cx="2868364" cy="47625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40597" y="4724400"/>
            <a:ext cx="514350" cy="51435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02497" y="47244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4540597" y="5429250"/>
            <a:ext cx="25684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Wrangling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540597" y="5791200"/>
            <a:ext cx="2568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&amp; Aggregate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40597" y="6210300"/>
            <a:ext cx="25684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30-county dataset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540597" y="6496050"/>
            <a:ext cx="2568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features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94662" y="5553075"/>
            <a:ext cx="3194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7709743" y="4333875"/>
            <a:ext cx="2868364" cy="2771775"/>
          </a:xfrm>
          <a:prstGeom prst="roundRect">
            <a:avLst>
              <a:gd name="adj" fmla="val 412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09743" y="4333875"/>
            <a:ext cx="2868364" cy="47625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76443" y="4724400"/>
            <a:ext cx="514350" cy="51435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38343" y="47244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7976443" y="5429250"/>
            <a:ext cx="25684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976443" y="5791200"/>
            <a:ext cx="2568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&amp; Visualize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76443" y="6210300"/>
            <a:ext cx="25684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0.82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976443" y="6496050"/>
            <a:ext cx="2568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correlation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730508" y="5553075"/>
            <a:ext cx="3194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1145589" y="4200525"/>
            <a:ext cx="2868364" cy="3038475"/>
          </a:xfrm>
          <a:prstGeom prst="roundRect">
            <a:avLst>
              <a:gd name="adj" fmla="val 398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145589" y="4200525"/>
            <a:ext cx="2868364" cy="47625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412289" y="4591050"/>
            <a:ext cx="514350" cy="51435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374189" y="459105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50" dirty="0"/>
          </a:p>
        </p:txBody>
      </p:sp>
      <p:sp>
        <p:nvSpPr>
          <p:cNvPr id="34" name="Text 32"/>
          <p:cNvSpPr/>
          <p:nvPr/>
        </p:nvSpPr>
        <p:spPr>
          <a:xfrm>
            <a:off x="11412289" y="5295900"/>
            <a:ext cx="25684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412289" y="5657850"/>
            <a:ext cx="2568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Regression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412289" y="6076950"/>
            <a:ext cx="25684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0.742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412289" y="6362700"/>
            <a:ext cx="241116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74.2% variance explained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4166354" y="5553075"/>
            <a:ext cx="3194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4581436" y="4067175"/>
            <a:ext cx="2868364" cy="3305175"/>
          </a:xfrm>
          <a:prstGeom prst="roundRect">
            <a:avLst>
              <a:gd name="adj" fmla="val 398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4581436" y="4067175"/>
            <a:ext cx="2868364" cy="47625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4848136" y="4457700"/>
            <a:ext cx="514350" cy="51435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4810036" y="44577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550" dirty="0"/>
          </a:p>
        </p:txBody>
      </p:sp>
      <p:sp>
        <p:nvSpPr>
          <p:cNvPr id="43" name="Text 41"/>
          <p:cNvSpPr/>
          <p:nvPr/>
        </p:nvSpPr>
        <p:spPr>
          <a:xfrm>
            <a:off x="14848136" y="5162550"/>
            <a:ext cx="25684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4848136" y="5524500"/>
            <a:ext cx="241116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&amp; Recommend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848136" y="6210300"/>
            <a:ext cx="25684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scenarios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4848136" y="6496050"/>
            <a:ext cx="241116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confidence intervals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096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8200" y="247650"/>
            <a:ext cx="514350" cy="51435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0100" y="24765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581150" y="266700"/>
            <a:ext cx="551787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&amp; Collection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6189821" y="361950"/>
            <a:ext cx="13859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of 5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838200" y="1438275"/>
            <a:ext cx="47625" cy="28575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19175" y="1390650"/>
            <a:ext cx="306953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838200" y="1981200"/>
            <a:ext cx="8441829" cy="2381250"/>
          </a:xfrm>
          <a:prstGeom prst="roundRect">
            <a:avLst>
              <a:gd name="adj" fmla="val 4000"/>
            </a:avLst>
          </a:prstGeom>
          <a:ln w="9525">
            <a:solidFill>
              <a:srgbClr val="C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7725" y="1990725"/>
            <a:ext cx="8422779" cy="59055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7275" y="2152650"/>
            <a:ext cx="1571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38425" y="2152650"/>
            <a:ext cx="57752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Places API (Text Search + Place Details)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7725" y="2581275"/>
            <a:ext cx="8422779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7275" y="2743200"/>
            <a:ext cx="16773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Method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34568" y="2743200"/>
            <a:ext cx="41674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"{GymChain} {County} County Florida"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47725" y="3171825"/>
            <a:ext cx="8422779" cy="59055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7275" y="3333750"/>
            <a:ext cx="1571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38425" y="3333750"/>
            <a:ext cx="59651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sec between requests (~5,000 requests/day quota)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47725" y="3762375"/>
            <a:ext cx="8422779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7275" y="3924300"/>
            <a:ext cx="1571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38425" y="3924300"/>
            <a:ext cx="44303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$0.032/request × 544 requests = $17.40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775329" y="1438275"/>
            <a:ext cx="47625" cy="28575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56304" y="1390650"/>
            <a:ext cx="217958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Output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775329" y="1943100"/>
            <a:ext cx="2469207" cy="1276350"/>
          </a:xfrm>
          <a:prstGeom prst="roundRect">
            <a:avLst>
              <a:gd name="adj" fmla="val 74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98554" y="2152650"/>
            <a:ext cx="24227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544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9798554" y="2743200"/>
            <a:ext cx="24227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locations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377886" y="1943100"/>
            <a:ext cx="2469356" cy="1276350"/>
          </a:xfrm>
          <a:prstGeom prst="roundRect">
            <a:avLst>
              <a:gd name="adj" fmla="val 746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401104" y="2152650"/>
            <a:ext cx="242292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12401104" y="2743200"/>
            <a:ext cx="24229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 counties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980593" y="1943100"/>
            <a:ext cx="2469207" cy="1276350"/>
          </a:xfrm>
          <a:prstGeom prst="roundRect">
            <a:avLst>
              <a:gd name="adj" fmla="val 746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003817" y="2152650"/>
            <a:ext cx="24227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15003817" y="2743200"/>
            <a:ext cx="24227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775329" y="3486150"/>
            <a:ext cx="84419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Records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9775329" y="4000500"/>
            <a:ext cx="1744563" cy="4953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908679" y="4114800"/>
            <a:ext cx="15540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LocationID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519892" y="4000500"/>
            <a:ext cx="1639193" cy="4953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653242" y="4114800"/>
            <a:ext cx="14486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GymChain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3159085" y="4000500"/>
            <a:ext cx="1797546" cy="4953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292435" y="4114800"/>
            <a:ext cx="16070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956631" y="4000500"/>
            <a:ext cx="1129903" cy="4953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5013781" y="4114800"/>
            <a:ext cx="9394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6086534" y="4000500"/>
            <a:ext cx="1363266" cy="4953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6143684" y="4114800"/>
            <a:ext cx="11727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775329" y="4495800"/>
            <a:ext cx="1744563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775329" y="4948238"/>
            <a:ext cx="1744563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908679" y="4591050"/>
            <a:ext cx="15540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GYM_0001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1519892" y="4495800"/>
            <a:ext cx="1639193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1519892" y="4948238"/>
            <a:ext cx="1639193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1653242" y="4591050"/>
            <a:ext cx="144869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Fitness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3159085" y="4495800"/>
            <a:ext cx="1797546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3159085" y="4948238"/>
            <a:ext cx="179754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3292435" y="4591050"/>
            <a:ext cx="160704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Miami-Dade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4956631" y="4495800"/>
            <a:ext cx="1129903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956631" y="4948238"/>
            <a:ext cx="1129903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5013781" y="4591050"/>
            <a:ext cx="93940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6086534" y="4495800"/>
            <a:ext cx="1363266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6086534" y="4948238"/>
            <a:ext cx="136326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6143684" y="4591050"/>
            <a:ext cx="11727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775329" y="4957763"/>
            <a:ext cx="1744563" cy="4667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775329" y="5414963"/>
            <a:ext cx="1744563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908679" y="5053013"/>
            <a:ext cx="15540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GYM_0002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1519892" y="4957763"/>
            <a:ext cx="1639193" cy="4667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1519892" y="5414963"/>
            <a:ext cx="1639193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1653242" y="5053013"/>
            <a:ext cx="14486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Fitness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3159085" y="4957763"/>
            <a:ext cx="1797546" cy="4667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3159085" y="5414963"/>
            <a:ext cx="179754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3292435" y="5053013"/>
            <a:ext cx="16070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Miami-Dade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4956631" y="4957763"/>
            <a:ext cx="1129903" cy="4667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4956631" y="5414963"/>
            <a:ext cx="1129903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5013781" y="5053013"/>
            <a:ext cx="9394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6086534" y="4957763"/>
            <a:ext cx="1363266" cy="4667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6086534" y="5414963"/>
            <a:ext cx="136326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6143684" y="5053013"/>
            <a:ext cx="11727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329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9775329" y="5424488"/>
            <a:ext cx="1744563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908679" y="5519738"/>
            <a:ext cx="155406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GYM_0003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11519892" y="5424488"/>
            <a:ext cx="1639193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1653242" y="5519738"/>
            <a:ext cx="144869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Fitness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13159085" y="5424488"/>
            <a:ext cx="1797546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3292435" y="5519738"/>
            <a:ext cx="160704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Miami-Dade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14956631" y="5424488"/>
            <a:ext cx="1129903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5013781" y="5519738"/>
            <a:ext cx="93940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16086534" y="5424488"/>
            <a:ext cx="1363266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6143684" y="5519738"/>
            <a:ext cx="117276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096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8200" y="247650"/>
            <a:ext cx="514350" cy="51435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0100" y="24765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581150" y="266700"/>
            <a:ext cx="586690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Wrangling &amp; Integration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6159163" y="361950"/>
            <a:ext cx="14197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of 5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838200" y="1438275"/>
            <a:ext cx="47625" cy="28575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19175" y="1390650"/>
            <a:ext cx="327219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Operations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838200" y="1981200"/>
            <a:ext cx="10244286" cy="1038225"/>
          </a:xfrm>
          <a:prstGeom prst="roundRect">
            <a:avLst>
              <a:gd name="adj" fmla="val 9174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8200" y="1981200"/>
            <a:ext cx="47625" cy="1038225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33475" y="2190750"/>
            <a:ext cx="1466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657475" y="2190750"/>
            <a:ext cx="89950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544 gym records with Census data by county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57475" y="2514600"/>
            <a:ext cx="3246686" cy="333375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71775" y="2552700"/>
            <a:ext cx="33427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merge(on='CountyName')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200" y="3171825"/>
            <a:ext cx="10244286" cy="1038225"/>
          </a:xfrm>
          <a:prstGeom prst="roundRect">
            <a:avLst>
              <a:gd name="adj" fmla="val 9174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8200" y="3171825"/>
            <a:ext cx="47625" cy="1038225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33475" y="3381375"/>
            <a:ext cx="17007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870150" y="3381375"/>
            <a:ext cx="87611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 county: count gyms, calculate avg rating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870150" y="3705225"/>
            <a:ext cx="3520976" cy="333375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84450" y="3743325"/>
            <a:ext cx="36444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df.groupby('CountyName')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8200" y="4362450"/>
            <a:ext cx="10244286" cy="1038225"/>
          </a:xfrm>
          <a:prstGeom prst="roundRect">
            <a:avLst>
              <a:gd name="adj" fmla="val 9174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8200" y="4362450"/>
            <a:ext cx="47625" cy="1038225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33475" y="4572000"/>
            <a:ext cx="17060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2874913" y="4572000"/>
            <a:ext cx="87559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PopulationDensity, CompetitorLocations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874913" y="4895850"/>
            <a:ext cx="3932634" cy="333375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89213" y="4933950"/>
            <a:ext cx="40972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df['PopDensity'] = Pop/Area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539686" y="3095625"/>
            <a:ext cx="47625" cy="28575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720661" y="3048000"/>
            <a:ext cx="316749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11539686" y="3619500"/>
            <a:ext cx="5910114" cy="194310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495641" y="3924300"/>
            <a:ext cx="59982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kern="0" spc="15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495641" y="4286250"/>
            <a:ext cx="59982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544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11495641" y="4972050"/>
            <a:ext cx="5998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(individual gyms)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244181" y="5753100"/>
            <a:ext cx="65011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1539686" y="6305550"/>
            <a:ext cx="5910114" cy="194310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495641" y="6610350"/>
            <a:ext cx="59982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kern="0" spc="15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495641" y="6972300"/>
            <a:ext cx="59982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800" dirty="0"/>
          </a:p>
        </p:txBody>
      </p:sp>
      <p:sp>
        <p:nvSpPr>
          <p:cNvPr id="37" name="Text 35"/>
          <p:cNvSpPr/>
          <p:nvPr/>
        </p:nvSpPr>
        <p:spPr>
          <a:xfrm>
            <a:off x="11495641" y="7658100"/>
            <a:ext cx="5998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(county aggregates)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096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8200" y="247650"/>
            <a:ext cx="514350" cy="51435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0100" y="24765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581150" y="266700"/>
            <a:ext cx="652289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(EDA)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6152763" y="361950"/>
            <a:ext cx="14267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of 5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38200" y="1314450"/>
            <a:ext cx="971542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Statistics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838200" y="1828800"/>
            <a:ext cx="3154859" cy="4953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71550" y="1943100"/>
            <a:ext cx="29828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93059" y="1828800"/>
            <a:ext cx="1529358" cy="4953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50209" y="1943100"/>
            <a:ext cx="13388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22416" y="1828800"/>
            <a:ext cx="1636812" cy="4953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79566" y="1943100"/>
            <a:ext cx="14463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Dev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59228" y="1828800"/>
            <a:ext cx="1251496" cy="4953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16378" y="1943100"/>
            <a:ext cx="10609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410724" y="1828800"/>
            <a:ext cx="1259681" cy="4953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67874" y="1943100"/>
            <a:ext cx="10691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" y="2324100"/>
            <a:ext cx="3154859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8200" y="2776538"/>
            <a:ext cx="3154859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1550" y="2419350"/>
            <a:ext cx="29828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Fitness Locs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993059" y="2324100"/>
            <a:ext cx="1529358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93059" y="2776538"/>
            <a:ext cx="1529358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50209" y="2419350"/>
            <a:ext cx="133885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522416" y="2324100"/>
            <a:ext cx="1636812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22416" y="2776538"/>
            <a:ext cx="163681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9566" y="2419350"/>
            <a:ext cx="14463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59228" y="2324100"/>
            <a:ext cx="1251496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59228" y="2776538"/>
            <a:ext cx="125149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216378" y="2419350"/>
            <a:ext cx="10609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410724" y="2324100"/>
            <a:ext cx="1259681" cy="4619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410724" y="2776538"/>
            <a:ext cx="1259681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67874" y="2419350"/>
            <a:ext cx="10691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38200" y="2786063"/>
            <a:ext cx="3154859" cy="4667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38200" y="3243263"/>
            <a:ext cx="3154859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1550" y="2881313"/>
            <a:ext cx="29828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Population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993059" y="2786063"/>
            <a:ext cx="1529358" cy="4667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993059" y="3243263"/>
            <a:ext cx="1529358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50209" y="2881313"/>
            <a:ext cx="13388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522416" y="2786063"/>
            <a:ext cx="1636812" cy="4667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522416" y="3243263"/>
            <a:ext cx="163681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79566" y="2881313"/>
            <a:ext cx="14463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876K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159228" y="2786063"/>
            <a:ext cx="1251496" cy="4667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159228" y="3243263"/>
            <a:ext cx="125149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16378" y="2881313"/>
            <a:ext cx="10609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25K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410724" y="2786063"/>
            <a:ext cx="1259681" cy="4667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410724" y="3243263"/>
            <a:ext cx="1259681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467874" y="2881313"/>
            <a:ext cx="10691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2.7M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38200" y="3252788"/>
            <a:ext cx="3154859" cy="466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38200" y="3709988"/>
            <a:ext cx="3154859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71550" y="3348037"/>
            <a:ext cx="29828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Income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3993059" y="3252788"/>
            <a:ext cx="1529358" cy="466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993059" y="3709988"/>
            <a:ext cx="1529358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050209" y="3348037"/>
            <a:ext cx="13388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$48.2K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522416" y="3252788"/>
            <a:ext cx="1636812" cy="466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522416" y="3709988"/>
            <a:ext cx="163681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579566" y="3348037"/>
            <a:ext cx="14463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$6.5K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159228" y="3252788"/>
            <a:ext cx="1251496" cy="466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159228" y="3709988"/>
            <a:ext cx="125149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216378" y="3348037"/>
            <a:ext cx="10609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$38K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8410724" y="3252788"/>
            <a:ext cx="1259681" cy="466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410724" y="3709988"/>
            <a:ext cx="1259681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467874" y="3348037"/>
            <a:ext cx="10691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$68K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838200" y="3719512"/>
            <a:ext cx="3154859" cy="461963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71550" y="3814763"/>
            <a:ext cx="298280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Density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3993059" y="3719512"/>
            <a:ext cx="1529358" cy="461963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050209" y="3814763"/>
            <a:ext cx="133885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381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5522416" y="3719512"/>
            <a:ext cx="1636812" cy="461963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579566" y="3814763"/>
            <a:ext cx="144631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7159228" y="3719512"/>
            <a:ext cx="1251496" cy="461963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216378" y="3814763"/>
            <a:ext cx="106099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8410724" y="3719512"/>
            <a:ext cx="1259681" cy="461963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467874" y="3814763"/>
            <a:ext cx="106918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1,221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838200" y="4391025"/>
            <a:ext cx="971542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Correlations</a:t>
            </a:r>
            <a:endParaRPr lang="en-US" sz="2550" dirty="0"/>
          </a:p>
        </p:txBody>
      </p:sp>
      <p:sp>
        <p:nvSpPr>
          <p:cNvPr id="74" name="Shape 72"/>
          <p:cNvSpPr/>
          <p:nvPr/>
        </p:nvSpPr>
        <p:spPr>
          <a:xfrm>
            <a:off x="838200" y="4905375"/>
            <a:ext cx="8832205" cy="800100"/>
          </a:xfrm>
          <a:prstGeom prst="rect">
            <a:avLst/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38200" y="4905375"/>
            <a:ext cx="47625" cy="8001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076325" y="5114925"/>
            <a:ext cx="12492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0.82</a:t>
            </a:r>
            <a:endParaRPr lang="en-US" sz="2550" dirty="0"/>
          </a:p>
        </p:txBody>
      </p:sp>
      <p:sp>
        <p:nvSpPr>
          <p:cNvPr id="77" name="Text 75"/>
          <p:cNvSpPr/>
          <p:nvPr/>
        </p:nvSpPr>
        <p:spPr>
          <a:xfrm>
            <a:off x="2420838" y="5038725"/>
            <a:ext cx="33613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↔ LA Fitness Locs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2420838" y="5305425"/>
            <a:ext cx="33613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positive ★★★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838200" y="5800725"/>
            <a:ext cx="8832205" cy="800100"/>
          </a:xfrm>
          <a:prstGeom prst="rect">
            <a:avLst/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838200" y="5800725"/>
            <a:ext cx="47625" cy="8001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076325" y="6010275"/>
            <a:ext cx="117827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0.71</a:t>
            </a:r>
            <a:endParaRPr lang="en-US" sz="2550" dirty="0"/>
          </a:p>
        </p:txBody>
      </p:sp>
      <p:sp>
        <p:nvSpPr>
          <p:cNvPr id="82" name="Text 80"/>
          <p:cNvSpPr/>
          <p:nvPr/>
        </p:nvSpPr>
        <p:spPr>
          <a:xfrm>
            <a:off x="2349847" y="5934075"/>
            <a:ext cx="4168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Income ↔ Membership Price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2349847" y="6200775"/>
            <a:ext cx="4168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positive ★★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838200" y="6696075"/>
            <a:ext cx="8832205" cy="800100"/>
          </a:xfrm>
          <a:prstGeom prst="rect">
            <a:avLst/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838200" y="6696075"/>
            <a:ext cx="47625" cy="8001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076325" y="6905625"/>
            <a:ext cx="125997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0.64</a:t>
            </a:r>
            <a:endParaRPr lang="en-US" sz="2550" dirty="0"/>
          </a:p>
        </p:txBody>
      </p:sp>
      <p:sp>
        <p:nvSpPr>
          <p:cNvPr id="87" name="Text 85"/>
          <p:cNvSpPr/>
          <p:nvPr/>
        </p:nvSpPr>
        <p:spPr>
          <a:xfrm>
            <a:off x="2431554" y="6829425"/>
            <a:ext cx="37920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Density ↔ Membership Price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2431554" y="7096125"/>
            <a:ext cx="37920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positive ★★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10089505" y="1362075"/>
            <a:ext cx="47625" cy="28575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0270480" y="1314450"/>
            <a:ext cx="245923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Discoveries</a:t>
            </a:r>
            <a:endParaRPr lang="en-US" sz="2550" dirty="0"/>
          </a:p>
        </p:txBody>
      </p:sp>
      <p:sp>
        <p:nvSpPr>
          <p:cNvPr id="91" name="Shape 89"/>
          <p:cNvSpPr/>
          <p:nvPr/>
        </p:nvSpPr>
        <p:spPr>
          <a:xfrm>
            <a:off x="10089505" y="1828800"/>
            <a:ext cx="7360295" cy="1238250"/>
          </a:xfrm>
          <a:prstGeom prst="roundRect">
            <a:avLst>
              <a:gd name="adj" fmla="val 7692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0299055" y="2019300"/>
            <a:ext cx="361950" cy="36195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10260955" y="201930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10794355" y="2019300"/>
            <a:ext cx="70904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Clustering</a:t>
            </a:r>
            <a:endParaRPr lang="en-US" sz="1950" dirty="0"/>
          </a:p>
        </p:txBody>
      </p:sp>
      <p:sp>
        <p:nvSpPr>
          <p:cNvPr id="95" name="Text 93"/>
          <p:cNvSpPr/>
          <p:nvPr/>
        </p:nvSpPr>
        <p:spPr>
          <a:xfrm>
            <a:off x="10794355" y="2343150"/>
            <a:ext cx="663927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Miami-Dade (75 gyms), Broward (60) are outliers with high density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10089505" y="3200400"/>
            <a:ext cx="7360295" cy="1238250"/>
          </a:xfrm>
          <a:prstGeom prst="roundRect">
            <a:avLst>
              <a:gd name="adj" fmla="val 7692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0299055" y="3390900"/>
            <a:ext cx="361950" cy="36195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10260955" y="339090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10794355" y="3390900"/>
            <a:ext cx="70904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Effect</a:t>
            </a:r>
            <a:endParaRPr lang="en-US" sz="1950" dirty="0"/>
          </a:p>
        </p:txBody>
      </p:sp>
      <p:sp>
        <p:nvSpPr>
          <p:cNvPr id="100" name="Text 98"/>
          <p:cNvSpPr/>
          <p:nvPr/>
        </p:nvSpPr>
        <p:spPr>
          <a:xfrm>
            <a:off x="10794355" y="3714750"/>
            <a:ext cx="663927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Wealthier counties support higher membership prices ($40–45 vs $22–25)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10089505" y="4572000"/>
            <a:ext cx="7360295" cy="971550"/>
          </a:xfrm>
          <a:prstGeom prst="roundRect">
            <a:avLst>
              <a:gd name="adj" fmla="val 9804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0299055" y="4762500"/>
            <a:ext cx="361950" cy="36195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0260955" y="476250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10794355" y="4762500"/>
            <a:ext cx="70246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950" dirty="0"/>
          </a:p>
        </p:txBody>
      </p:sp>
      <p:sp>
        <p:nvSpPr>
          <p:cNvPr id="105" name="Text 103"/>
          <p:cNvSpPr/>
          <p:nvPr/>
        </p:nvSpPr>
        <p:spPr>
          <a:xfrm>
            <a:off x="10794355" y="5086350"/>
            <a:ext cx="70246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cluster around 4.0–4.2; approximately normal distribution</a:t>
            </a:r>
            <a:endParaRPr lang="en-US" sz="1800" dirty="0"/>
          </a:p>
        </p:txBody>
      </p:sp>
      <p:sp>
        <p:nvSpPr>
          <p:cNvPr id="106" name="Shape 104"/>
          <p:cNvSpPr/>
          <p:nvPr/>
        </p:nvSpPr>
        <p:spPr>
          <a:xfrm>
            <a:off x="10089505" y="5676900"/>
            <a:ext cx="7360295" cy="971550"/>
          </a:xfrm>
          <a:prstGeom prst="roundRect">
            <a:avLst>
              <a:gd name="adj" fmla="val 9804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0299055" y="5867400"/>
            <a:ext cx="361950" cy="36195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10260955" y="586740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09" name="Text 107"/>
          <p:cNvSpPr/>
          <p:nvPr/>
        </p:nvSpPr>
        <p:spPr>
          <a:xfrm>
            <a:off x="10794355" y="5867400"/>
            <a:ext cx="69375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Pattern</a:t>
            </a:r>
            <a:endParaRPr lang="en-US" sz="1950" dirty="0"/>
          </a:p>
        </p:txBody>
      </p:sp>
      <p:sp>
        <p:nvSpPr>
          <p:cNvPr id="110" name="Text 108"/>
          <p:cNvSpPr/>
          <p:nvPr/>
        </p:nvSpPr>
        <p:spPr>
          <a:xfrm>
            <a:off x="10794355" y="6191250"/>
            <a:ext cx="69375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gyms in county correlates with lower individual gym ratings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096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8200" y="247650"/>
            <a:ext cx="514350" cy="51435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0100" y="24765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581150" y="266700"/>
            <a:ext cx="65892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Development &amp; Validation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6149637" y="361950"/>
            <a:ext cx="14301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of 5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0" y="1009650"/>
            <a:ext cx="18288000" cy="58102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1571625"/>
            <a:ext cx="18288000" cy="19050"/>
          </a:xfrm>
          <a:prstGeom prst="rect">
            <a:avLst/>
          </a:prstGeom>
          <a:solidFill>
            <a:srgbClr val="C0D9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8200" y="1152525"/>
            <a:ext cx="18272760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MembershipPrice </a:t>
            </a:r>
            <a:r>
              <a:rPr lang="en-US" sz="180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β₀ + β₁(Population) + β₂(LAFitnessLocs) + β₃(CompetitorLocs) + β₄(MedianIncome) + β₅(PopDensity) + β₆(AvgGymRating) + 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1857375"/>
            <a:ext cx="109611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Regression Output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838200" y="2371725"/>
            <a:ext cx="2680395" cy="4762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2025" y="2476500"/>
            <a:ext cx="25131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18595" y="2371725"/>
            <a:ext cx="1753939" cy="4762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220" y="2476500"/>
            <a:ext cx="15824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72534" y="2371725"/>
            <a:ext cx="1815852" cy="4762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20159" y="2476500"/>
            <a:ext cx="16444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Err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88386" y="2371725"/>
            <a:ext cx="1401366" cy="4762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6011" y="2476500"/>
            <a:ext cx="12299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t-value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489752" y="2371725"/>
            <a:ext cx="1481882" cy="4762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37377" y="2476500"/>
            <a:ext cx="1310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971633" y="2371725"/>
            <a:ext cx="831205" cy="4762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7358" y="2476500"/>
            <a:ext cx="6597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" y="2847975"/>
            <a:ext cx="2680395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8200" y="3281363"/>
            <a:ext cx="268039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2025" y="2933700"/>
            <a:ext cx="251315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518595" y="2847975"/>
            <a:ext cx="1753939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518595" y="3281363"/>
            <a:ext cx="1753939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66220" y="2933700"/>
            <a:ext cx="15824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272534" y="2847975"/>
            <a:ext cx="1815852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72534" y="3281363"/>
            <a:ext cx="181585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20159" y="2933700"/>
            <a:ext cx="16444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088386" y="2847975"/>
            <a:ext cx="1401366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088386" y="3281363"/>
            <a:ext cx="140136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36011" y="2933700"/>
            <a:ext cx="122991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489752" y="2847975"/>
            <a:ext cx="1481882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489752" y="3281363"/>
            <a:ext cx="148188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37377" y="2933700"/>
            <a:ext cx="13104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&lt;0.001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971633" y="2847975"/>
            <a:ext cx="831205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971633" y="3281363"/>
            <a:ext cx="83120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057358" y="2933700"/>
            <a:ext cx="6597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38200" y="3290888"/>
            <a:ext cx="2680395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38200" y="3729038"/>
            <a:ext cx="268039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62025" y="3376613"/>
            <a:ext cx="25131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3518595" y="3290888"/>
            <a:ext cx="1753939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518595" y="3729038"/>
            <a:ext cx="1753939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566220" y="3376613"/>
            <a:ext cx="15824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0.000012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272534" y="3290888"/>
            <a:ext cx="1815852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272534" y="3729038"/>
            <a:ext cx="181585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320159" y="3376613"/>
            <a:ext cx="16444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0.000005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088386" y="3290888"/>
            <a:ext cx="1401366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088386" y="3729038"/>
            <a:ext cx="140136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36011" y="3376613"/>
            <a:ext cx="12299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2.40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489752" y="3290888"/>
            <a:ext cx="1481882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489752" y="3729038"/>
            <a:ext cx="148188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537377" y="3376613"/>
            <a:ext cx="1310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0.025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9971633" y="3290888"/>
            <a:ext cx="831205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971633" y="3729038"/>
            <a:ext cx="83120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057358" y="3376613"/>
            <a:ext cx="6597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838200" y="3738563"/>
            <a:ext cx="2680395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38200" y="4176712"/>
            <a:ext cx="268039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62025" y="3824288"/>
            <a:ext cx="25131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Fitness Locs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3518595" y="3738563"/>
            <a:ext cx="1753939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518595" y="4176712"/>
            <a:ext cx="1753939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566220" y="3824288"/>
            <a:ext cx="15824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5272534" y="3738563"/>
            <a:ext cx="1815852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272534" y="4176712"/>
            <a:ext cx="181585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320159" y="3824288"/>
            <a:ext cx="16444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7088386" y="3738563"/>
            <a:ext cx="1401366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088386" y="4176712"/>
            <a:ext cx="140136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136011" y="3824288"/>
            <a:ext cx="12299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2.71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8489752" y="3738563"/>
            <a:ext cx="1481882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489752" y="4176712"/>
            <a:ext cx="148188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537377" y="3824288"/>
            <a:ext cx="1310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0.011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9971633" y="3738563"/>
            <a:ext cx="831205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9971633" y="4176712"/>
            <a:ext cx="83120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0057358" y="3824288"/>
            <a:ext cx="6597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838200" y="4186238"/>
            <a:ext cx="2680395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38200" y="4624388"/>
            <a:ext cx="268039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62025" y="4271963"/>
            <a:ext cx="25131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Locs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3518595" y="4186238"/>
            <a:ext cx="1753939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518595" y="4624388"/>
            <a:ext cx="1753939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566220" y="4271963"/>
            <a:ext cx="15824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−0.08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5272534" y="4186238"/>
            <a:ext cx="1815852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5272534" y="4624388"/>
            <a:ext cx="181585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320159" y="4271963"/>
            <a:ext cx="16444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7088386" y="4186238"/>
            <a:ext cx="1401366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088386" y="4624388"/>
            <a:ext cx="140136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136011" y="4271963"/>
            <a:ext cx="12299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−1.33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8489752" y="4186238"/>
            <a:ext cx="1481882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489752" y="4624388"/>
            <a:ext cx="148188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8537377" y="4271963"/>
            <a:ext cx="1310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0.193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9971633" y="4186238"/>
            <a:ext cx="831205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9971633" y="4624388"/>
            <a:ext cx="83120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0057358" y="4271963"/>
            <a:ext cx="6597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95" name="Shape 93"/>
          <p:cNvSpPr/>
          <p:nvPr/>
        </p:nvSpPr>
        <p:spPr>
          <a:xfrm>
            <a:off x="838200" y="4633913"/>
            <a:ext cx="2680395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838200" y="5072063"/>
            <a:ext cx="268039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962025" y="4719638"/>
            <a:ext cx="25131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Income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3518595" y="4633913"/>
            <a:ext cx="1753939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3518595" y="5072063"/>
            <a:ext cx="1753939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3566220" y="4719638"/>
            <a:ext cx="15824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0.00018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5272534" y="4633913"/>
            <a:ext cx="1815852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272534" y="5072063"/>
            <a:ext cx="181585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5320159" y="4719638"/>
            <a:ext cx="16444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0.00004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7088386" y="4633913"/>
            <a:ext cx="1401366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7088386" y="5072063"/>
            <a:ext cx="140136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7136011" y="4719638"/>
            <a:ext cx="12299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4.50</a:t>
            </a:r>
            <a:endParaRPr lang="en-US" sz="1800" dirty="0"/>
          </a:p>
        </p:txBody>
      </p:sp>
      <p:sp>
        <p:nvSpPr>
          <p:cNvPr id="107" name="Shape 105"/>
          <p:cNvSpPr/>
          <p:nvPr/>
        </p:nvSpPr>
        <p:spPr>
          <a:xfrm>
            <a:off x="8489752" y="4633913"/>
            <a:ext cx="1481882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489752" y="5072063"/>
            <a:ext cx="148188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8537377" y="4719638"/>
            <a:ext cx="1310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&lt;0.001</a:t>
            </a:r>
            <a:endParaRPr lang="en-US" sz="1800" dirty="0"/>
          </a:p>
        </p:txBody>
      </p:sp>
      <p:sp>
        <p:nvSpPr>
          <p:cNvPr id="110" name="Shape 108"/>
          <p:cNvSpPr/>
          <p:nvPr/>
        </p:nvSpPr>
        <p:spPr>
          <a:xfrm>
            <a:off x="9971633" y="4633913"/>
            <a:ext cx="831205" cy="447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9971633" y="5072063"/>
            <a:ext cx="83120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10057358" y="4719638"/>
            <a:ext cx="6597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1800" dirty="0"/>
          </a:p>
        </p:txBody>
      </p:sp>
      <p:sp>
        <p:nvSpPr>
          <p:cNvPr id="113" name="Shape 111"/>
          <p:cNvSpPr/>
          <p:nvPr/>
        </p:nvSpPr>
        <p:spPr>
          <a:xfrm>
            <a:off x="838200" y="5081588"/>
            <a:ext cx="2680395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838200" y="5519738"/>
            <a:ext cx="268039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962025" y="5167313"/>
            <a:ext cx="25131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Density</a:t>
            </a:r>
            <a:endParaRPr lang="en-US" sz="1800" dirty="0"/>
          </a:p>
        </p:txBody>
      </p:sp>
      <p:sp>
        <p:nvSpPr>
          <p:cNvPr id="116" name="Shape 114"/>
          <p:cNvSpPr/>
          <p:nvPr/>
        </p:nvSpPr>
        <p:spPr>
          <a:xfrm>
            <a:off x="3518595" y="5081588"/>
            <a:ext cx="1753939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518595" y="5519738"/>
            <a:ext cx="1753939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3566220" y="5167313"/>
            <a:ext cx="15824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0.002</a:t>
            </a:r>
            <a:endParaRPr lang="en-US" sz="1800" dirty="0"/>
          </a:p>
        </p:txBody>
      </p:sp>
      <p:sp>
        <p:nvSpPr>
          <p:cNvPr id="119" name="Shape 117"/>
          <p:cNvSpPr/>
          <p:nvPr/>
        </p:nvSpPr>
        <p:spPr>
          <a:xfrm>
            <a:off x="5272534" y="5081588"/>
            <a:ext cx="1815852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5272534" y="5519738"/>
            <a:ext cx="181585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5320159" y="5167313"/>
            <a:ext cx="16444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</a:t>
            </a:r>
            <a:endParaRPr lang="en-US" sz="1800" dirty="0"/>
          </a:p>
        </p:txBody>
      </p:sp>
      <p:sp>
        <p:nvSpPr>
          <p:cNvPr id="122" name="Shape 120"/>
          <p:cNvSpPr/>
          <p:nvPr/>
        </p:nvSpPr>
        <p:spPr>
          <a:xfrm>
            <a:off x="7088386" y="5081588"/>
            <a:ext cx="1401366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7088386" y="5519738"/>
            <a:ext cx="1401366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7136011" y="5167313"/>
            <a:ext cx="12299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</a:t>
            </a:r>
            <a:endParaRPr lang="en-US" sz="1800" dirty="0"/>
          </a:p>
        </p:txBody>
      </p:sp>
      <p:sp>
        <p:nvSpPr>
          <p:cNvPr id="125" name="Shape 123"/>
          <p:cNvSpPr/>
          <p:nvPr/>
        </p:nvSpPr>
        <p:spPr>
          <a:xfrm>
            <a:off x="8489752" y="5081588"/>
            <a:ext cx="1481882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8489752" y="5519738"/>
            <a:ext cx="1481882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8537377" y="5167313"/>
            <a:ext cx="1310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0.053</a:t>
            </a:r>
            <a:endParaRPr lang="en-US" sz="1800" dirty="0"/>
          </a:p>
        </p:txBody>
      </p:sp>
      <p:sp>
        <p:nvSpPr>
          <p:cNvPr id="128" name="Shape 126"/>
          <p:cNvSpPr/>
          <p:nvPr/>
        </p:nvSpPr>
        <p:spPr>
          <a:xfrm>
            <a:off x="9971633" y="5081588"/>
            <a:ext cx="831205" cy="447675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9971633" y="5519738"/>
            <a:ext cx="831205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10057358" y="5167313"/>
            <a:ext cx="6597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31" name="Shape 129"/>
          <p:cNvSpPr/>
          <p:nvPr/>
        </p:nvSpPr>
        <p:spPr>
          <a:xfrm>
            <a:off x="838200" y="5529263"/>
            <a:ext cx="2680395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962025" y="5614988"/>
            <a:ext cx="251315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Gym Rating</a:t>
            </a:r>
            <a:endParaRPr lang="en-US" sz="1800" dirty="0"/>
          </a:p>
        </p:txBody>
      </p:sp>
      <p:sp>
        <p:nvSpPr>
          <p:cNvPr id="133" name="Shape 131"/>
          <p:cNvSpPr/>
          <p:nvPr/>
        </p:nvSpPr>
        <p:spPr>
          <a:xfrm>
            <a:off x="3518595" y="5529263"/>
            <a:ext cx="1753939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3566220" y="5614988"/>
            <a:ext cx="158248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</a:t>
            </a:r>
            <a:endParaRPr lang="en-US" sz="1800" dirty="0"/>
          </a:p>
        </p:txBody>
      </p:sp>
      <p:sp>
        <p:nvSpPr>
          <p:cNvPr id="135" name="Shape 133"/>
          <p:cNvSpPr/>
          <p:nvPr/>
        </p:nvSpPr>
        <p:spPr>
          <a:xfrm>
            <a:off x="5272534" y="5529263"/>
            <a:ext cx="1815852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5320159" y="5614988"/>
            <a:ext cx="164440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</a:t>
            </a:r>
            <a:endParaRPr lang="en-US" sz="1800" dirty="0"/>
          </a:p>
        </p:txBody>
      </p:sp>
      <p:sp>
        <p:nvSpPr>
          <p:cNvPr id="137" name="Shape 135"/>
          <p:cNvSpPr/>
          <p:nvPr/>
        </p:nvSpPr>
        <p:spPr>
          <a:xfrm>
            <a:off x="7088386" y="5529263"/>
            <a:ext cx="1401366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7136011" y="5614988"/>
            <a:ext cx="122991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2.67</a:t>
            </a:r>
            <a:endParaRPr lang="en-US" sz="1800" dirty="0"/>
          </a:p>
        </p:txBody>
      </p:sp>
      <p:sp>
        <p:nvSpPr>
          <p:cNvPr id="139" name="Shape 137"/>
          <p:cNvSpPr/>
          <p:nvPr/>
        </p:nvSpPr>
        <p:spPr>
          <a:xfrm>
            <a:off x="8489752" y="5529263"/>
            <a:ext cx="1481882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8537377" y="5614988"/>
            <a:ext cx="131043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0.012</a:t>
            </a:r>
            <a:endParaRPr lang="en-US" sz="1800" dirty="0"/>
          </a:p>
        </p:txBody>
      </p:sp>
      <p:sp>
        <p:nvSpPr>
          <p:cNvPr id="141" name="Shape 139"/>
          <p:cNvSpPr/>
          <p:nvPr/>
        </p:nvSpPr>
        <p:spPr>
          <a:xfrm>
            <a:off x="9971633" y="5529263"/>
            <a:ext cx="831205" cy="4429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10057358" y="5614988"/>
            <a:ext cx="6597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800" dirty="0"/>
          </a:p>
        </p:txBody>
      </p:sp>
      <p:sp>
        <p:nvSpPr>
          <p:cNvPr id="143" name="Text 141"/>
          <p:cNvSpPr/>
          <p:nvPr/>
        </p:nvSpPr>
        <p:spPr>
          <a:xfrm>
            <a:off x="11221938" y="1857375"/>
            <a:ext cx="685064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Fit</a:t>
            </a:r>
            <a:endParaRPr lang="en-US" sz="2550" dirty="0"/>
          </a:p>
        </p:txBody>
      </p:sp>
      <p:sp>
        <p:nvSpPr>
          <p:cNvPr id="144" name="Shape 142"/>
          <p:cNvSpPr/>
          <p:nvPr/>
        </p:nvSpPr>
        <p:spPr>
          <a:xfrm>
            <a:off x="11221938" y="2371725"/>
            <a:ext cx="3056781" cy="1085850"/>
          </a:xfrm>
          <a:prstGeom prst="roundRect">
            <a:avLst>
              <a:gd name="adj" fmla="val 877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11215784" y="2543175"/>
            <a:ext cx="306908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0.742</a:t>
            </a:r>
            <a:endParaRPr lang="en-US" sz="3300" dirty="0"/>
          </a:p>
        </p:txBody>
      </p:sp>
      <p:sp>
        <p:nvSpPr>
          <p:cNvPr id="146" name="Text 144"/>
          <p:cNvSpPr/>
          <p:nvPr/>
        </p:nvSpPr>
        <p:spPr>
          <a:xfrm>
            <a:off x="11215784" y="3019425"/>
            <a:ext cx="3069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R-squared</a:t>
            </a:r>
            <a:endParaRPr lang="en-US" sz="1800" dirty="0"/>
          </a:p>
        </p:txBody>
      </p:sp>
      <p:sp>
        <p:nvSpPr>
          <p:cNvPr id="147" name="Shape 145"/>
          <p:cNvSpPr/>
          <p:nvPr/>
        </p:nvSpPr>
        <p:spPr>
          <a:xfrm>
            <a:off x="14393019" y="2371725"/>
            <a:ext cx="3056781" cy="1085850"/>
          </a:xfrm>
          <a:prstGeom prst="roundRect">
            <a:avLst>
              <a:gd name="adj" fmla="val 877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14386865" y="2543175"/>
            <a:ext cx="306908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0.691</a:t>
            </a:r>
            <a:endParaRPr lang="en-US" sz="3300" dirty="0"/>
          </a:p>
        </p:txBody>
      </p:sp>
      <p:sp>
        <p:nvSpPr>
          <p:cNvPr id="149" name="Text 147"/>
          <p:cNvSpPr/>
          <p:nvPr/>
        </p:nvSpPr>
        <p:spPr>
          <a:xfrm>
            <a:off x="14386865" y="3019425"/>
            <a:ext cx="3069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Adj. R²</a:t>
            </a:r>
            <a:endParaRPr lang="en-US" sz="1800" dirty="0"/>
          </a:p>
        </p:txBody>
      </p:sp>
      <p:sp>
        <p:nvSpPr>
          <p:cNvPr id="150" name="Shape 148"/>
          <p:cNvSpPr/>
          <p:nvPr/>
        </p:nvSpPr>
        <p:spPr>
          <a:xfrm>
            <a:off x="11221938" y="3571875"/>
            <a:ext cx="3056781" cy="800100"/>
          </a:xfrm>
          <a:prstGeom prst="roundRect">
            <a:avLst>
              <a:gd name="adj" fmla="val 11905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11355288" y="3705225"/>
            <a:ext cx="3069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F-stat: 14.5</a:t>
            </a:r>
            <a:endParaRPr lang="en-US" sz="1800" dirty="0"/>
          </a:p>
        </p:txBody>
      </p:sp>
      <p:sp>
        <p:nvSpPr>
          <p:cNvPr id="152" name="Text 150"/>
          <p:cNvSpPr/>
          <p:nvPr/>
        </p:nvSpPr>
        <p:spPr>
          <a:xfrm>
            <a:off x="11355288" y="3971925"/>
            <a:ext cx="3069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&lt; 0.001 ✓</a:t>
            </a:r>
            <a:endParaRPr lang="en-US" sz="1800" dirty="0"/>
          </a:p>
        </p:txBody>
      </p:sp>
      <p:sp>
        <p:nvSpPr>
          <p:cNvPr id="153" name="Shape 151"/>
          <p:cNvSpPr/>
          <p:nvPr/>
        </p:nvSpPr>
        <p:spPr>
          <a:xfrm>
            <a:off x="14393019" y="3571875"/>
            <a:ext cx="3056781" cy="800100"/>
          </a:xfrm>
          <a:prstGeom prst="roundRect">
            <a:avLst>
              <a:gd name="adj" fmla="val 11905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14526369" y="3705225"/>
            <a:ext cx="3069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Normality ✓</a:t>
            </a:r>
            <a:endParaRPr lang="en-US" sz="1800" dirty="0"/>
          </a:p>
        </p:txBody>
      </p:sp>
      <p:sp>
        <p:nvSpPr>
          <p:cNvPr id="155" name="Text 153"/>
          <p:cNvSpPr/>
          <p:nvPr/>
        </p:nvSpPr>
        <p:spPr>
          <a:xfrm>
            <a:off x="14526369" y="3971925"/>
            <a:ext cx="3069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Shapiro-Wilk p=0.078</a:t>
            </a:r>
            <a:endParaRPr lang="en-US" sz="1800" dirty="0"/>
          </a:p>
        </p:txBody>
      </p:sp>
      <p:sp>
        <p:nvSpPr>
          <p:cNvPr id="156" name="Text 154"/>
          <p:cNvSpPr/>
          <p:nvPr/>
        </p:nvSpPr>
        <p:spPr>
          <a:xfrm>
            <a:off x="11221938" y="4562475"/>
            <a:ext cx="685064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Multicollinearity (VIF)</a:t>
            </a:r>
            <a:endParaRPr lang="en-US" sz="2550" dirty="0"/>
          </a:p>
        </p:txBody>
      </p:sp>
      <p:sp>
        <p:nvSpPr>
          <p:cNvPr id="157" name="Shape 155"/>
          <p:cNvSpPr/>
          <p:nvPr/>
        </p:nvSpPr>
        <p:spPr>
          <a:xfrm>
            <a:off x="11221938" y="5057775"/>
            <a:ext cx="6227862" cy="2428875"/>
          </a:xfrm>
          <a:prstGeom prst="roundRect">
            <a:avLst>
              <a:gd name="adj" fmla="val 3922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11393388" y="5210175"/>
            <a:ext cx="11191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159" name="Text 157"/>
          <p:cNvSpPr/>
          <p:nvPr/>
        </p:nvSpPr>
        <p:spPr>
          <a:xfrm>
            <a:off x="16718607" y="5210175"/>
            <a:ext cx="6359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✓</a:t>
            </a:r>
            <a:endParaRPr lang="en-US" sz="1800" dirty="0"/>
          </a:p>
        </p:txBody>
      </p:sp>
      <p:sp>
        <p:nvSpPr>
          <p:cNvPr id="160" name="Text 158"/>
          <p:cNvSpPr/>
          <p:nvPr/>
        </p:nvSpPr>
        <p:spPr>
          <a:xfrm>
            <a:off x="11393388" y="5553075"/>
            <a:ext cx="17032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Fitness Locs</a:t>
            </a:r>
            <a:endParaRPr lang="en-US" sz="1800" dirty="0"/>
          </a:p>
        </p:txBody>
      </p:sp>
      <p:sp>
        <p:nvSpPr>
          <p:cNvPr id="161" name="Text 159"/>
          <p:cNvSpPr/>
          <p:nvPr/>
        </p:nvSpPr>
        <p:spPr>
          <a:xfrm>
            <a:off x="16703278" y="5553075"/>
            <a:ext cx="6512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 ✓</a:t>
            </a:r>
            <a:endParaRPr lang="en-US" sz="1800" dirty="0"/>
          </a:p>
        </p:txBody>
      </p:sp>
      <p:sp>
        <p:nvSpPr>
          <p:cNvPr id="162" name="Text 160"/>
          <p:cNvSpPr/>
          <p:nvPr/>
        </p:nvSpPr>
        <p:spPr>
          <a:xfrm>
            <a:off x="11393388" y="5895975"/>
            <a:ext cx="17923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Locs</a:t>
            </a:r>
            <a:endParaRPr lang="en-US" sz="1800" dirty="0"/>
          </a:p>
        </p:txBody>
      </p:sp>
      <p:sp>
        <p:nvSpPr>
          <p:cNvPr id="163" name="Text 161"/>
          <p:cNvSpPr/>
          <p:nvPr/>
        </p:nvSpPr>
        <p:spPr>
          <a:xfrm>
            <a:off x="16669345" y="5895975"/>
            <a:ext cx="6852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✓</a:t>
            </a:r>
            <a:endParaRPr lang="en-US" sz="1800" dirty="0"/>
          </a:p>
        </p:txBody>
      </p:sp>
      <p:sp>
        <p:nvSpPr>
          <p:cNvPr id="164" name="Text 162"/>
          <p:cNvSpPr/>
          <p:nvPr/>
        </p:nvSpPr>
        <p:spPr>
          <a:xfrm>
            <a:off x="11393388" y="6238875"/>
            <a:ext cx="16613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Income</a:t>
            </a:r>
            <a:endParaRPr lang="en-US" sz="1800" dirty="0"/>
          </a:p>
        </p:txBody>
      </p:sp>
      <p:sp>
        <p:nvSpPr>
          <p:cNvPr id="165" name="Text 163"/>
          <p:cNvSpPr/>
          <p:nvPr/>
        </p:nvSpPr>
        <p:spPr>
          <a:xfrm>
            <a:off x="16704171" y="6238875"/>
            <a:ext cx="6503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 ✓</a:t>
            </a:r>
            <a:endParaRPr lang="en-US" sz="1800" dirty="0"/>
          </a:p>
        </p:txBody>
      </p:sp>
      <p:sp>
        <p:nvSpPr>
          <p:cNvPr id="166" name="Text 164"/>
          <p:cNvSpPr/>
          <p:nvPr/>
        </p:nvSpPr>
        <p:spPr>
          <a:xfrm>
            <a:off x="11393388" y="6581775"/>
            <a:ext cx="17279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Gym Rating</a:t>
            </a:r>
            <a:endParaRPr lang="en-US" sz="1800" dirty="0"/>
          </a:p>
        </p:txBody>
      </p:sp>
      <p:sp>
        <p:nvSpPr>
          <p:cNvPr id="167" name="Text 165"/>
          <p:cNvSpPr/>
          <p:nvPr/>
        </p:nvSpPr>
        <p:spPr>
          <a:xfrm>
            <a:off x="16709380" y="6581775"/>
            <a:ext cx="6451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✓</a:t>
            </a:r>
            <a:endParaRPr lang="en-US" sz="1800" dirty="0"/>
          </a:p>
        </p:txBody>
      </p:sp>
      <p:sp>
        <p:nvSpPr>
          <p:cNvPr id="168" name="Shape 166"/>
          <p:cNvSpPr/>
          <p:nvPr/>
        </p:nvSpPr>
        <p:spPr>
          <a:xfrm>
            <a:off x="11393388" y="6962775"/>
            <a:ext cx="5884962" cy="9525"/>
          </a:xfrm>
          <a:prstGeom prst="rect">
            <a:avLst/>
          </a:prstGeom>
          <a:solidFill>
            <a:srgbClr val="C0D9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11305114" y="7067550"/>
            <a:ext cx="60615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VIF &lt; 5 — No multicollinearity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096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8200" y="247650"/>
            <a:ext cx="514350" cy="51435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0100" y="24765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581150" y="266700"/>
            <a:ext cx="459503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&amp; Reporting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6154549" y="361950"/>
            <a:ext cx="14247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of 5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838200" y="1390650"/>
            <a:ext cx="5359301" cy="8515350"/>
          </a:xfrm>
          <a:prstGeom prst="roundRect">
            <a:avLst>
              <a:gd name="adj" fmla="val 2133"/>
            </a:avLst>
          </a:prstGeom>
          <a:ln/>
          <a:effectLst>
            <a:outerShdw blurRad="152400" dist="1905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8200" y="1390650"/>
            <a:ext cx="5359301" cy="11239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85850" y="1600200"/>
            <a:ext cx="53504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85850" y="1924050"/>
            <a:ext cx="535040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High-Growth Urban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838200" y="2514600"/>
            <a:ext cx="5359301" cy="7391400"/>
          </a:xfrm>
          <a:prstGeom prst="rect">
            <a:avLst/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85850" y="3048000"/>
            <a:ext cx="4864001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5850" y="2724150"/>
            <a:ext cx="11191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9342" y="2724150"/>
            <a:ext cx="576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85850" y="3467100"/>
            <a:ext cx="4864001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85850" y="3143250"/>
            <a:ext cx="11038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Fitness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97016" y="3143250"/>
            <a:ext cx="13781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locations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85850" y="3886200"/>
            <a:ext cx="4864001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85850" y="3562350"/>
            <a:ext cx="13394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0827" y="3562350"/>
            <a:ext cx="3652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85850" y="4381500"/>
            <a:ext cx="4864001" cy="19050"/>
          </a:xfrm>
          <a:prstGeom prst="rect">
            <a:avLst/>
          </a:prstGeom>
          <a:solidFill>
            <a:srgbClr val="AACA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85850" y="3981450"/>
            <a:ext cx="16613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Income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71207" y="3981450"/>
            <a:ext cx="6548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2650" y="4619625"/>
            <a:ext cx="53504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Price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2650" y="4924425"/>
            <a:ext cx="535040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$39.85</a:t>
            </a:r>
            <a:endParaRPr lang="en-US" sz="4500" dirty="0"/>
          </a:p>
        </p:txBody>
      </p:sp>
      <p:sp>
        <p:nvSpPr>
          <p:cNvPr id="26" name="Text 24"/>
          <p:cNvSpPr/>
          <p:nvPr/>
        </p:nvSpPr>
        <p:spPr>
          <a:xfrm>
            <a:off x="842650" y="5553075"/>
            <a:ext cx="53504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[$37.20, $42.50]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85850" y="8827889"/>
            <a:ext cx="4864001" cy="868561"/>
          </a:xfrm>
          <a:prstGeom prst="roundRect">
            <a:avLst>
              <a:gd name="adj" fmla="val 87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50240" y="8942189"/>
            <a:ext cx="47352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premium pricing in affluent urban markets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64201" y="1390650"/>
            <a:ext cx="5359450" cy="8515350"/>
          </a:xfrm>
          <a:prstGeom prst="roundRect">
            <a:avLst>
              <a:gd name="adj" fmla="val 2133"/>
            </a:avLst>
          </a:prstGeom>
          <a:ln/>
          <a:effectLst>
            <a:outerShdw blurRad="152400" dist="1905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64201" y="1390650"/>
            <a:ext cx="5359450" cy="112395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11851" y="1600200"/>
            <a:ext cx="53505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11851" y="1924050"/>
            <a:ext cx="53505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Low-Density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6464201" y="2514600"/>
            <a:ext cx="5359450" cy="7391400"/>
          </a:xfrm>
          <a:prstGeom prst="rect">
            <a:avLst/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11851" y="3048000"/>
            <a:ext cx="4864150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11851" y="2724150"/>
            <a:ext cx="11191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994827" y="2724150"/>
            <a:ext cx="6573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711851" y="3467100"/>
            <a:ext cx="4864150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11851" y="3143250"/>
            <a:ext cx="11038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Fitness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587930" y="3143250"/>
            <a:ext cx="10642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location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711851" y="3886200"/>
            <a:ext cx="4864150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11851" y="3562350"/>
            <a:ext cx="13394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428958" y="3562350"/>
            <a:ext cx="2232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711851" y="4381500"/>
            <a:ext cx="4864150" cy="19050"/>
          </a:xfrm>
          <a:prstGeom prst="rect">
            <a:avLst/>
          </a:prstGeom>
          <a:solidFill>
            <a:srgbClr val="AACA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11851" y="3981450"/>
            <a:ext cx="16613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Income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996910" y="3981450"/>
            <a:ext cx="6552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$42K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468643" y="4619625"/>
            <a:ext cx="53505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Price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468643" y="4924425"/>
            <a:ext cx="535056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$22.50</a:t>
            </a:r>
            <a:endParaRPr lang="en-US" sz="4500" dirty="0"/>
          </a:p>
        </p:txBody>
      </p:sp>
      <p:sp>
        <p:nvSpPr>
          <p:cNvPr id="48" name="Text 46"/>
          <p:cNvSpPr/>
          <p:nvPr/>
        </p:nvSpPr>
        <p:spPr>
          <a:xfrm>
            <a:off x="6468643" y="5553075"/>
            <a:ext cx="53505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[$19.80, $25.20]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711851" y="8827889"/>
            <a:ext cx="4864150" cy="868561"/>
          </a:xfrm>
          <a:prstGeom prst="roundRect">
            <a:avLst>
              <a:gd name="adj" fmla="val 877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776239" y="8942189"/>
            <a:ext cx="473537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sensitivity; limited pricing power in rural areas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2090350" y="1390650"/>
            <a:ext cx="5359450" cy="8515350"/>
          </a:xfrm>
          <a:prstGeom prst="roundRect">
            <a:avLst>
              <a:gd name="adj" fmla="val 2133"/>
            </a:avLst>
          </a:prstGeom>
          <a:ln/>
          <a:effectLst>
            <a:outerShdw blurRad="152400" dist="1905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2090350" y="1390650"/>
            <a:ext cx="5359450" cy="112395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2338000" y="1600200"/>
            <a:ext cx="53505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2338000" y="1924050"/>
            <a:ext cx="53505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Saturated Market</a:t>
            </a:r>
            <a:endParaRPr lang="en-US" sz="2550" dirty="0"/>
          </a:p>
        </p:txBody>
      </p:sp>
      <p:sp>
        <p:nvSpPr>
          <p:cNvPr id="55" name="Shape 53"/>
          <p:cNvSpPr/>
          <p:nvPr/>
        </p:nvSpPr>
        <p:spPr>
          <a:xfrm>
            <a:off x="12090350" y="2514600"/>
            <a:ext cx="5359450" cy="7391400"/>
          </a:xfrm>
          <a:prstGeom prst="rect">
            <a:avLst/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2338000" y="3048000"/>
            <a:ext cx="4864150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2338000" y="2724150"/>
            <a:ext cx="11191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6685270" y="2724150"/>
            <a:ext cx="5930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2.7M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2338000" y="3467100"/>
            <a:ext cx="4864150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2338000" y="3143250"/>
            <a:ext cx="11038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Fitness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5950208" y="3143250"/>
            <a:ext cx="13771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locations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2338000" y="3886200"/>
            <a:ext cx="4864150" cy="9525"/>
          </a:xfrm>
          <a:prstGeom prst="rect">
            <a:avLst/>
          </a:prstGeom>
          <a:solidFill>
            <a:srgbClr val="D5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2338000" y="3562350"/>
            <a:ext cx="13394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6905982" y="3562350"/>
            <a:ext cx="3723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2338000" y="4381500"/>
            <a:ext cx="4864150" cy="19050"/>
          </a:xfrm>
          <a:prstGeom prst="rect">
            <a:avLst/>
          </a:prstGeom>
          <a:solidFill>
            <a:srgbClr val="AACA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2338000" y="3981450"/>
            <a:ext cx="16613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Income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6628120" y="3981450"/>
            <a:ext cx="6502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$52K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2094793" y="4619625"/>
            <a:ext cx="53505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Price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2094793" y="4924425"/>
            <a:ext cx="535056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$37.20</a:t>
            </a:r>
            <a:endParaRPr lang="en-US" sz="4500" dirty="0"/>
          </a:p>
        </p:txBody>
      </p:sp>
      <p:sp>
        <p:nvSpPr>
          <p:cNvPr id="70" name="Text 68"/>
          <p:cNvSpPr/>
          <p:nvPr/>
        </p:nvSpPr>
        <p:spPr>
          <a:xfrm>
            <a:off x="12094793" y="5553075"/>
            <a:ext cx="53505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[$34.50, $40.00]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2338000" y="8827889"/>
            <a:ext cx="4864150" cy="868561"/>
          </a:xfrm>
          <a:prstGeom prst="roundRect">
            <a:avLst>
              <a:gd name="adj" fmla="val 87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2402389" y="8942189"/>
            <a:ext cx="473537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limits pricing despite high population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228725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8200" y="266700"/>
            <a:ext cx="1827276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65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 Architecture &amp; Technology Stack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838200" y="1657350"/>
            <a:ext cx="47625" cy="28575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9175" y="1609725"/>
            <a:ext cx="4834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Pipeline Architecture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38200" y="2181225"/>
            <a:ext cx="2546300" cy="17907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7570" y="2371725"/>
            <a:ext cx="25075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33450" y="2733675"/>
            <a:ext cx="23558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API Census 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7570" y="3514725"/>
            <a:ext cx="25075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/ CSV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4500" y="2181225"/>
            <a:ext cx="266700" cy="17907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46400" y="2181225"/>
            <a:ext cx="34290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1200" y="2181225"/>
            <a:ext cx="2546449" cy="17907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70563" y="2371725"/>
            <a:ext cx="25077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746450" y="2733675"/>
            <a:ext cx="235594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files SQL databases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70563" y="3514725"/>
            <a:ext cx="2507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544 raw records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97650" y="2181225"/>
            <a:ext cx="266700" cy="17907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59550" y="2181225"/>
            <a:ext cx="34290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64350" y="2181225"/>
            <a:ext cx="2546300" cy="17907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83720" y="2371725"/>
            <a:ext cx="25075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Wrangling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483720" y="2733675"/>
            <a:ext cx="2507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83720" y="3171825"/>
            <a:ext cx="25075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30-county dataset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10650" y="2181225"/>
            <a:ext cx="266700" cy="17907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72550" y="2181225"/>
            <a:ext cx="34290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277350" y="2181225"/>
            <a:ext cx="2546449" cy="17907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96713" y="2371725"/>
            <a:ext cx="25077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372600" y="2733675"/>
            <a:ext cx="235594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Seaborn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96713" y="3514725"/>
            <a:ext cx="2507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&amp; heatmaps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823799" y="2181225"/>
            <a:ext cx="266700" cy="17907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785699" y="2181225"/>
            <a:ext cx="34290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090499" y="2181225"/>
            <a:ext cx="2546300" cy="17907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109869" y="2371725"/>
            <a:ext cx="25075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185749" y="2733675"/>
            <a:ext cx="23558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statsmodels OLS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109869" y="3514725"/>
            <a:ext cx="25075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model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4636800" y="2181225"/>
            <a:ext cx="266700" cy="17907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4598700" y="2181225"/>
            <a:ext cx="34290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4903500" y="2181225"/>
            <a:ext cx="2546300" cy="17907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4922870" y="2371725"/>
            <a:ext cx="25075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4998750" y="2733675"/>
            <a:ext cx="23558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Jupyter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922870" y="3514725"/>
            <a:ext cx="25075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recs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38200" y="4362450"/>
            <a:ext cx="47625" cy="28575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19175" y="4314825"/>
            <a:ext cx="4223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Loops &amp; Iteration</a:t>
            </a:r>
            <a:endParaRPr lang="en-US" sz="2550" dirty="0"/>
          </a:p>
        </p:txBody>
      </p:sp>
      <p:sp>
        <p:nvSpPr>
          <p:cNvPr id="42" name="Shape 40"/>
          <p:cNvSpPr/>
          <p:nvPr/>
        </p:nvSpPr>
        <p:spPr>
          <a:xfrm>
            <a:off x="838200" y="4886325"/>
            <a:ext cx="5397401" cy="933450"/>
          </a:xfrm>
          <a:prstGeom prst="rect">
            <a:avLst/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38200" y="4886325"/>
            <a:ext cx="47625" cy="93345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95375" y="5057775"/>
            <a:ext cx="54237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→ Feature Engineering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95375" y="5381625"/>
            <a:ext cx="54237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variables based on correlation patterns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445151" y="4886325"/>
            <a:ext cx="5397550" cy="933450"/>
          </a:xfrm>
          <a:prstGeom prst="rect">
            <a:avLst/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445151" y="4886325"/>
            <a:ext cx="47625" cy="93345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02326" y="5057775"/>
            <a:ext cx="54239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 → Wrangling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702326" y="5381625"/>
            <a:ext cx="54239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outliers and multicollinearity issues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052250" y="4886325"/>
            <a:ext cx="5397550" cy="933450"/>
          </a:xfrm>
          <a:prstGeom prst="rect">
            <a:avLst/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2052250" y="4886325"/>
            <a:ext cx="47625" cy="933450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2309425" y="5057775"/>
            <a:ext cx="54239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→ Collection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2309425" y="5381625"/>
            <a:ext cx="54239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more data for underrepresented markets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228725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8200" y="266700"/>
            <a:ext cx="1827276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65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Best Practices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838200" y="1533525"/>
            <a:ext cx="10745986" cy="914400"/>
          </a:xfrm>
          <a:prstGeom prst="roundRect">
            <a:avLst>
              <a:gd name="adj" fmla="val 10417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8200" y="1533525"/>
            <a:ext cx="47625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76325" y="1695450"/>
            <a:ext cx="381000" cy="381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8225" y="16954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28775" y="1695450"/>
            <a:ext cx="88125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is Foundational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28775" y="2019300"/>
            <a:ext cx="88125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74.2% R² depends on clean, validated data. Implement quality gates at each stage.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" y="2571750"/>
            <a:ext cx="10745986" cy="914400"/>
          </a:xfrm>
          <a:prstGeom prst="roundRect">
            <a:avLst>
              <a:gd name="adj" fmla="val 10417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38200" y="2571750"/>
            <a:ext cx="47625" cy="914400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76325" y="2733675"/>
            <a:ext cx="381000" cy="3810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8225" y="273367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28775" y="2733675"/>
            <a:ext cx="9649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&amp; Documentation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628775" y="3057525"/>
            <a:ext cx="9649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API versions, query dates, transformation logic. Version control code and schemas.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" y="3609975"/>
            <a:ext cx="10745986" cy="914400"/>
          </a:xfrm>
          <a:prstGeom prst="roundRect">
            <a:avLst>
              <a:gd name="adj" fmla="val 10417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8200" y="3609975"/>
            <a:ext cx="47625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76325" y="3771900"/>
            <a:ext cx="381000" cy="3810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38225" y="37719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628775" y="3771900"/>
            <a:ext cx="86075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is Essential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628775" y="4095750"/>
            <a:ext cx="86075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model rarely optimal. Refine based on diagnostics (VIF, residuals, p-values).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" y="4648200"/>
            <a:ext cx="10745986" cy="914400"/>
          </a:xfrm>
          <a:prstGeom prst="roundRect">
            <a:avLst>
              <a:gd name="adj" fmla="val 10417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8200" y="4648200"/>
            <a:ext cx="47625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76325" y="4810125"/>
            <a:ext cx="381000" cy="3810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38225" y="481012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628775" y="4810125"/>
            <a:ext cx="92869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Rigor + Business Context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628775" y="5133975"/>
            <a:ext cx="9286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 must be interpretable. P-values communicate uncertainty to stakeholders.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38200" y="5686425"/>
            <a:ext cx="10745986" cy="914400"/>
          </a:xfrm>
          <a:prstGeom prst="roundRect">
            <a:avLst>
              <a:gd name="adj" fmla="val 10417"/>
            </a:avLst>
          </a:prstGeom>
          <a:solidFill>
            <a:srgbClr val="F0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8200" y="5686425"/>
            <a:ext cx="47625" cy="914400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76325" y="5848350"/>
            <a:ext cx="381000" cy="38100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38225" y="58483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628775" y="5848350"/>
            <a:ext cx="91910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Across Stages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628775" y="6172200"/>
            <a:ext cx="91910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produces distinct outputs — CSVs, charts, coefficients, recommendations.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965186" y="1533525"/>
            <a:ext cx="5484614" cy="8448675"/>
          </a:xfrm>
          <a:prstGeom prst="roundRect">
            <a:avLst>
              <a:gd name="adj" fmla="val 208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212836" y="1819275"/>
            <a:ext cx="54882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Checklist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12212836" y="2438400"/>
            <a:ext cx="2748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544871" y="2428875"/>
            <a:ext cx="44531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collected, validated, documented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2212836" y="2895600"/>
            <a:ext cx="2748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544871" y="2886075"/>
            <a:ext cx="40079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completed with visualizations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212836" y="3352800"/>
            <a:ext cx="2748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544871" y="3343275"/>
            <a:ext cx="31962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diagnostically sound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2212836" y="3810000"/>
            <a:ext cx="2748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2544871" y="3800475"/>
            <a:ext cx="41934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with uncertainty bounds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2212836" y="4267200"/>
            <a:ext cx="2748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544871" y="4257675"/>
            <a:ext cx="4556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recommendations delivered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2212836" y="9267825"/>
            <a:ext cx="4989314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963370" y="9429750"/>
            <a:ext cx="54882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 Complete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15375" y="3786188"/>
            <a:ext cx="857250" cy="3810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373681" y="4319588"/>
            <a:ext cx="1154063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 Complete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919332" y="5500688"/>
            <a:ext cx="444933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15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8715375" y="6472238"/>
            <a:ext cx="8572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979</Words>
  <Application>Microsoft Macintosh PowerPoint</Application>
  <PresentationFormat>Custom</PresentationFormat>
  <Paragraphs>362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Hemang Subramanian</cp:lastModifiedBy>
  <cp:revision>2</cp:revision>
  <dcterms:created xsi:type="dcterms:W3CDTF">2026-06-27T04:19:53Z</dcterms:created>
  <dcterms:modified xsi:type="dcterms:W3CDTF">2026-06-27T04:21:21Z</dcterms:modified>
</cp:coreProperties>
</file>
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5"/>
  </p:notesMasterIdLst>
  <p:handoutMasterIdLst>
    <p:handoutMasterId r:id="rId26"/>
  </p:handoutMasterIdLst>
  <p:sldIdLst>
    <p:sldId id="257" r:id="rId2"/>
    <p:sldId id="325" r:id="rId3"/>
    <p:sldId id="655" r:id="rId4"/>
    <p:sldId id="294" r:id="rId5"/>
    <p:sldId id="260" r:id="rId6"/>
    <p:sldId id="326" r:id="rId7"/>
    <p:sldId id="261" r:id="rId8"/>
    <p:sldId id="262" r:id="rId9"/>
    <p:sldId id="269" r:id="rId10"/>
    <p:sldId id="271" r:id="rId11"/>
    <p:sldId id="274" r:id="rId12"/>
    <p:sldId id="278" r:id="rId13"/>
    <p:sldId id="656" r:id="rId14"/>
    <p:sldId id="657" r:id="rId15"/>
    <p:sldId id="280" r:id="rId16"/>
    <p:sldId id="295" r:id="rId17"/>
    <p:sldId id="281" r:id="rId18"/>
    <p:sldId id="282" r:id="rId19"/>
    <p:sldId id="283" r:id="rId20"/>
    <p:sldId id="340" r:id="rId21"/>
    <p:sldId id="341" r:id="rId22"/>
    <p:sldId id="298" r:id="rId23"/>
    <p:sldId id="65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>
      <p:cViewPr varScale="1">
        <p:scale>
          <a:sx n="107" d="100"/>
          <a:sy n="107" d="100"/>
        </p:scale>
        <p:origin x="1096" y="4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6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43B9F-D7C5-43E0-B8BC-0903E5C4FA43}" type="datetimeFigureOut">
              <a:rPr lang="en-CA" smtClean="0"/>
              <a:t>2025-07-05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A8D574-D5EC-452B-8A61-DDC1098834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46093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737DE-D05C-4C44-8A00-D2A740ADB3CA}" type="datetimeFigureOut">
              <a:rPr lang="en-CA" smtClean="0"/>
              <a:t>2025-07-05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8006C-D4DB-423D-BF25-FF76C43831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5601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72F08C7F-3FC9-C648-91A2-A5E31334F710}" type="slidenum">
              <a:rPr lang="en-US" altLang="en-US">
                <a:latin typeface="Calibri" charset="0"/>
              </a:rPr>
              <a:pPr eaLnBrk="1" hangingPunct="1"/>
              <a:t>3</a:t>
            </a:fld>
            <a:endParaRPr lang="en-US" altLang="en-US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241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560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0A6494B-D53A-1948-BAA5-234C73BB47F1}" type="slidenum">
              <a:rPr lang="en-US" altLang="en-US">
                <a:latin typeface="Calibri" charset="0"/>
              </a:rPr>
              <a:pPr eaLnBrk="1" hangingPunct="1"/>
              <a:t>5</a:t>
            </a:fld>
            <a:endParaRPr lang="en-US" altLang="en-US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643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608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607BFD70-5236-6C4D-9665-CE941E1585F6}" type="slidenum">
              <a:rPr lang="en-US" altLang="en-US">
                <a:latin typeface="Calibri" charset="0"/>
              </a:rPr>
              <a:pPr eaLnBrk="1" hangingPunct="1"/>
              <a:t>7</a:t>
            </a:fld>
            <a:endParaRPr lang="en-US" altLang="en-US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581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62A9BD62-184F-E040-890C-F15CC1E60172}" type="slidenum">
              <a:rPr lang="en-US" altLang="en-US">
                <a:latin typeface="Calibri" charset="0"/>
              </a:rPr>
              <a:pPr eaLnBrk="1" hangingPunct="1"/>
              <a:t>8</a:t>
            </a:fld>
            <a:endParaRPr lang="en-US" altLang="en-US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933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065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5D0B6B3-65B3-5F48-9652-86EDFBCEFB69}" type="slidenum">
              <a:rPr lang="en-US" altLang="en-US">
                <a:latin typeface="Calibri" charset="0"/>
              </a:rPr>
              <a:pPr eaLnBrk="1" hangingPunct="1"/>
              <a:t>9</a:t>
            </a:fld>
            <a:endParaRPr lang="en-US" altLang="en-US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962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white, street&#10;&#10;Description automatically generated">
            <a:extLst>
              <a:ext uri="{FF2B5EF4-FFF2-40B4-BE49-F238E27FC236}">
                <a16:creationId xmlns:a16="http://schemas.microsoft.com/office/drawing/2014/main" id="{F7EC3544-21CC-3645-8030-220B3D79C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4D1807-F8D8-7449-A2AF-21E9B7F9D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452" y="1469764"/>
            <a:ext cx="7571096" cy="2387600"/>
          </a:xfrm>
        </p:spPr>
        <p:txBody>
          <a:bodyPr anchor="b"/>
          <a:lstStyle>
            <a:lvl1pPr algn="ctr">
              <a:defRPr sz="45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50332F-7579-A142-B68B-DFC4D6518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01767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556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hite, street&#10;&#10;Description automatically generated">
            <a:extLst>
              <a:ext uri="{FF2B5EF4-FFF2-40B4-BE49-F238E27FC236}">
                <a16:creationId xmlns:a16="http://schemas.microsoft.com/office/drawing/2014/main" id="{32DA1EB1-6D72-A54A-8497-764D174E1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750332F-7579-A142-B68B-DFC4D65188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1754373"/>
            <a:ext cx="6858000" cy="3919068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306635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4696-BA1E-8C4A-B286-B1FF1681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5474" y="681037"/>
            <a:ext cx="6619875" cy="100965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254F6-9672-814B-939D-1644FFD1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D2847-26E2-4217-B0B5-65DF24A4E306}" type="datetime1">
              <a:rPr lang="en-CA" smtClean="0"/>
              <a:t>2025-07-05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922CB-1017-BF43-971C-EDA1073E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4858B-1DC4-2147-9A3A-6A7A84AE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5A5A0E7-32FE-CF45-A542-7C98D0100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5474" y="1825628"/>
            <a:ext cx="6619876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159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58962-179B-6542-912A-D199F7A64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844" y="1709739"/>
            <a:ext cx="6733743" cy="2852737"/>
          </a:xfrm>
        </p:spPr>
        <p:txBody>
          <a:bodyPr anchor="b"/>
          <a:lstStyle>
            <a:lvl1pPr>
              <a:defRPr sz="45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2326E-DB3E-1D45-BEE0-2E1470A1C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6844" y="4589464"/>
            <a:ext cx="6733743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D3633-D292-774E-AF77-DCFE3B7B5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60C58-BD2B-4AAE-82D5-E6662150B587}" type="datetime1">
              <a:rPr lang="en-CA" smtClean="0"/>
              <a:t>2025-07-05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0271E-D3D1-C940-8E8B-08AE5A52C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A3FB2-24BC-E04B-9C2E-9215EA79B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1194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485FC-7DAD-FC48-B5BD-DDB2CC24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B7138-E185-5F45-83BB-BF10692A6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6844" y="1825625"/>
            <a:ext cx="3260207" cy="43513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B0131-FD72-314B-A435-F7B1A18D7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0987-6D08-4BD1-A547-1D993EC84A33}" type="datetime1">
              <a:rPr lang="en-CA" smtClean="0"/>
              <a:t>2025-07-05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0CBEB-9133-A143-9F7C-D487A962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589F4-BA5A-6444-8882-E37D99697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8739BEF-D14E-F44B-8FC8-BF861D50DE3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255143" y="1825625"/>
            <a:ext cx="3260207" cy="43513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9466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B8BF92-A1DE-FC43-824F-0750905EA5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255142" y="1825625"/>
            <a:ext cx="3261399" cy="6794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C70121-F425-3447-ABCA-072C9636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0987-6D08-4BD1-A547-1D993EC84A33}" type="datetime1">
              <a:rPr lang="en-CA" smtClean="0"/>
              <a:t>2025-07-05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F3859-289A-214B-959A-59FFCD33F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279F9E-9EF2-9F4E-9624-CF2957EB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06DB105-FCB6-D340-B434-AFC3CA7D8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845" y="681037"/>
            <a:ext cx="6738505" cy="1009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EEB006-F0BF-DF45-917F-778CF2C1A0F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255143" y="2640014"/>
            <a:ext cx="3260207" cy="3536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BFD1B88-08C3-744E-A7F9-F7D44DD6F8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76845" y="1825625"/>
            <a:ext cx="3261399" cy="6794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D1DBC57-C5C9-BC49-B3B5-8D7764ECBF9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776845" y="2640014"/>
            <a:ext cx="3260207" cy="3536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398841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75343957-82E2-4B4A-912C-322699232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E4696-BA1E-8C4A-B286-B1FF1681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845" y="852776"/>
            <a:ext cx="6738505" cy="1009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EAC26-728E-E341-87F9-F0FFE7698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6844" y="1963882"/>
            <a:ext cx="6738506" cy="42130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254F6-9672-814B-939D-1644FFD1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0987-6D08-4BD1-A547-1D993EC84A33}" type="datetime1">
              <a:rPr lang="en-CA" smtClean="0"/>
              <a:t>2025-07-05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922CB-1017-BF43-971C-EDA1073E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4858B-1DC4-2147-9A3A-6A7A84AE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590083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3AAC55B2-88CD-E940-A4D0-54234D918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C58962-179B-6542-912A-D199F7A64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844" y="1709739"/>
            <a:ext cx="6733743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2326E-DB3E-1D45-BEE0-2E1470A1C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6844" y="4589464"/>
            <a:ext cx="6733743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D3633-D292-774E-AF77-DCFE3B7B5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0987-6D08-4BD1-A547-1D993EC84A33}" type="datetime1">
              <a:rPr lang="en-CA" smtClean="0"/>
              <a:t>2025-07-05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0271E-D3D1-C940-8E8B-08AE5A52C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A3FB2-24BC-E04B-9C2E-9215EA79B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495699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3E19A962-FDC7-A345-B4C6-42AEDEA08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9485FC-7DAD-FC48-B5BD-DDB2CC240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845" y="797443"/>
            <a:ext cx="6738505" cy="8932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B7138-E185-5F45-83BB-BF10692A6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6844" y="1825625"/>
            <a:ext cx="326020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B0131-FD72-314B-A435-F7B1A18D7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0987-6D08-4BD1-A547-1D993EC84A33}" type="datetime1">
              <a:rPr lang="en-CA" smtClean="0"/>
              <a:t>2025-07-05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0CBEB-9133-A143-9F7C-D487A962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589F4-BA5A-6444-8882-E37D99697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8739BEF-D14E-F44B-8FC8-BF861D50DE3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255143" y="1825625"/>
            <a:ext cx="326020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756356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883B0806-1C70-5043-9BE1-E221F1ECD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B8BF92-A1DE-FC43-824F-0750905EA5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255142" y="1825625"/>
            <a:ext cx="3261399" cy="6794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C70121-F425-3447-ABCA-072C9636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0987-6D08-4BD1-A547-1D993EC84A33}" type="datetime1">
              <a:rPr lang="en-CA" smtClean="0"/>
              <a:t>2025-07-05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F3859-289A-214B-959A-59FFCD33F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279F9E-9EF2-9F4E-9624-CF2957EB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EEB006-F0BF-DF45-917F-778CF2C1A0F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255143" y="2640014"/>
            <a:ext cx="3260207" cy="3536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BFD1B88-08C3-744E-A7F9-F7D44DD6F8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76845" y="1825625"/>
            <a:ext cx="3261399" cy="6794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D1DBC57-C5C9-BC49-B3B5-8D7764ECBF9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776845" y="2640014"/>
            <a:ext cx="3260207" cy="3536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4E8660B-9298-E248-87BA-485866532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845" y="797443"/>
            <a:ext cx="6738505" cy="89324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94138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9805AC-82AD-404A-B3FC-0B836A2F7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E4696-BA1E-8C4A-B286-B1FF1681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534" y="681037"/>
            <a:ext cx="8015816" cy="100965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254F6-9672-814B-939D-1644FFD1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9533" y="6377784"/>
            <a:ext cx="1496292" cy="365125"/>
          </a:xfrm>
        </p:spPr>
        <p:txBody>
          <a:bodyPr/>
          <a:lstStyle/>
          <a:p>
            <a:fld id="{17C30987-6D08-4BD1-A547-1D993EC84A33}" type="datetime1">
              <a:rPr lang="en-CA" smtClean="0"/>
              <a:t>2025-07-05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922CB-1017-BF43-971C-EDA1073E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4770" y="6377783"/>
            <a:ext cx="3086100" cy="365125"/>
          </a:xfrm>
        </p:spPr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4858B-1DC4-2147-9A3A-6A7A84AE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5A5A0E7-32FE-CF45-A542-7C98D0100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4" y="1825628"/>
            <a:ext cx="8015817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45812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2A2E19-7633-F14C-8504-EB5B43A0B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C58962-179B-6542-912A-D199F7A64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533" y="1709739"/>
            <a:ext cx="8011054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2326E-DB3E-1D45-BEE0-2E1470A1C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533" y="4589464"/>
            <a:ext cx="801105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D3633-D292-774E-AF77-DCFE3B7B58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9533" y="6383255"/>
            <a:ext cx="1496292" cy="365125"/>
          </a:xfrm>
        </p:spPr>
        <p:txBody>
          <a:bodyPr/>
          <a:lstStyle/>
          <a:p>
            <a:fld id="{17C30987-6D08-4BD1-A547-1D993EC84A33}" type="datetime1">
              <a:rPr lang="en-CA" smtClean="0"/>
              <a:t>2025-07-05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0271E-D3D1-C940-8E8B-08AE5A52C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4770" y="6383256"/>
            <a:ext cx="3086100" cy="365125"/>
          </a:xfrm>
        </p:spPr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A3FB2-24BC-E04B-9C2E-9215EA79B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7236979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692536D-3C72-AA45-B6C9-14848D579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B7138-E185-5F45-83BB-BF10692A6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9533" y="1825625"/>
            <a:ext cx="3956052" cy="43513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9485FC-7DAD-FC48-B5BD-DDB2CC240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534" y="681037"/>
            <a:ext cx="8015816" cy="100965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B0131-FD72-314B-A435-F7B1A18D7D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9533" y="6377783"/>
            <a:ext cx="1496292" cy="365125"/>
          </a:xfrm>
        </p:spPr>
        <p:txBody>
          <a:bodyPr/>
          <a:lstStyle/>
          <a:p>
            <a:fld id="{17C30987-6D08-4BD1-A547-1D993EC84A33}" type="datetime1">
              <a:rPr lang="en-CA" smtClean="0"/>
              <a:t>2025-07-05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0CBEB-9133-A143-9F7C-D487A962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4770" y="6377783"/>
            <a:ext cx="3086100" cy="365125"/>
          </a:xfrm>
        </p:spPr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589F4-BA5A-6444-8882-E37D99697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E867EF0-BE36-D64E-BB00-35A7C5336B9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59297" y="1825625"/>
            <a:ext cx="3956052" cy="43513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873491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D7CEA33-EEDD-9747-AF01-52FAA18F7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C70121-F425-3447-ABCA-072C9636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9532" y="6377254"/>
            <a:ext cx="1496292" cy="365125"/>
          </a:xfrm>
        </p:spPr>
        <p:txBody>
          <a:bodyPr/>
          <a:lstStyle/>
          <a:p>
            <a:fld id="{17C30987-6D08-4BD1-A547-1D993EC84A33}" type="datetime1">
              <a:rPr lang="en-CA" smtClean="0"/>
              <a:t>2025-07-05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F3859-289A-214B-959A-59FFCD33F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4770" y="6377253"/>
            <a:ext cx="3086100" cy="365125"/>
          </a:xfrm>
        </p:spPr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279F9E-9EF2-9F4E-9624-CF2957EB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06DB105-FCB6-D340-B434-AFC3CA7D8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534" y="681037"/>
            <a:ext cx="8015816" cy="1009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BFD1B88-08C3-744E-A7F9-F7D44DD6F8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9533" y="1824567"/>
            <a:ext cx="3956051" cy="6794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1AD269C-BA53-114A-98B5-479CD3C0EF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9533" y="2640013"/>
            <a:ext cx="3956052" cy="35369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316CD7A-9881-8D43-9E01-B086422645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59299" y="1824567"/>
            <a:ext cx="3956051" cy="6794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E2B8DAD-5100-8540-93CB-DE56F548EF87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559299" y="2640013"/>
            <a:ext cx="3956052" cy="35369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705948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flat screen television&#10;&#10;Description automatically generated">
            <a:extLst>
              <a:ext uri="{FF2B5EF4-FFF2-40B4-BE49-F238E27FC236}">
                <a16:creationId xmlns:a16="http://schemas.microsoft.com/office/drawing/2014/main" id="{84C3F7E3-BCB0-7640-A2F7-1DF59BF11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E4696-BA1E-8C4A-B286-B1FF1681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32" y="681037"/>
            <a:ext cx="7979735" cy="1009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EAC26-728E-E341-87F9-F0FFE7698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33" y="1825626"/>
            <a:ext cx="7979734" cy="3502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FA832D60-F93C-254C-8490-AC31B75D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2132" y="5462941"/>
            <a:ext cx="1496292" cy="365125"/>
          </a:xfrm>
        </p:spPr>
        <p:txBody>
          <a:bodyPr/>
          <a:lstStyle/>
          <a:p>
            <a:fld id="{17C30987-6D08-4BD1-A547-1D993EC84A33}" type="datetime1">
              <a:rPr lang="en-CA" smtClean="0"/>
              <a:t>2025-07-05</a:t>
            </a:fld>
            <a:endParaRPr lang="en-CA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D401C78-F7BE-4248-BD96-72E3667A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49" y="5462940"/>
            <a:ext cx="3086100" cy="365125"/>
          </a:xfrm>
        </p:spPr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C5D7452-52C1-B242-B10C-3827C3C38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000" y="5462939"/>
            <a:ext cx="2057400" cy="365125"/>
          </a:xfrm>
        </p:spPr>
        <p:txBody>
          <a:bodyPr/>
          <a:lstStyle/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052727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flat screen television&#10;&#10;Description automatically generated">
            <a:extLst>
              <a:ext uri="{FF2B5EF4-FFF2-40B4-BE49-F238E27FC236}">
                <a16:creationId xmlns:a16="http://schemas.microsoft.com/office/drawing/2014/main" id="{A2ECD31C-D950-C145-9EDF-FEF5C2ACD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FA832D60-F93C-254C-8490-AC31B75D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2132" y="5462941"/>
            <a:ext cx="1496292" cy="365125"/>
          </a:xfrm>
        </p:spPr>
        <p:txBody>
          <a:bodyPr/>
          <a:lstStyle/>
          <a:p>
            <a:fld id="{17C30987-6D08-4BD1-A547-1D993EC84A33}" type="datetime1">
              <a:rPr lang="en-CA" smtClean="0"/>
              <a:t>2025-07-05</a:t>
            </a:fld>
            <a:endParaRPr lang="en-CA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D401C78-F7BE-4248-BD96-72E3667A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49" y="5462940"/>
            <a:ext cx="3086100" cy="365125"/>
          </a:xfrm>
        </p:spPr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C5D7452-52C1-B242-B10C-3827C3C38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000" y="5462939"/>
            <a:ext cx="2057400" cy="365125"/>
          </a:xfrm>
        </p:spPr>
        <p:txBody>
          <a:bodyPr/>
          <a:lstStyle/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93C34E7-074F-DF4D-8D17-4D0DF6E6396D}"/>
              </a:ext>
            </a:extLst>
          </p:cNvPr>
          <p:cNvSpPr txBox="1">
            <a:spLocks/>
          </p:cNvSpPr>
          <p:nvPr/>
        </p:nvSpPr>
        <p:spPr>
          <a:xfrm>
            <a:off x="582132" y="1448152"/>
            <a:ext cx="6733743" cy="2852737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50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3F99976-12BE-094B-95EE-565DAE0B67D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82132" y="4327877"/>
            <a:ext cx="6733743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22C74DB-01E2-6547-8EAB-72C6FB503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32" y="1421164"/>
            <a:ext cx="6733743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280023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flat screen television&#10;&#10;Description automatically generated">
            <a:extLst>
              <a:ext uri="{FF2B5EF4-FFF2-40B4-BE49-F238E27FC236}">
                <a16:creationId xmlns:a16="http://schemas.microsoft.com/office/drawing/2014/main" id="{0A6E7507-5090-824D-B32A-C3175E846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E4696-BA1E-8C4A-B286-B1FF1681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32" y="681037"/>
            <a:ext cx="7979735" cy="1009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FA832D60-F93C-254C-8490-AC31B75D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2132" y="5462941"/>
            <a:ext cx="1496292" cy="365125"/>
          </a:xfrm>
        </p:spPr>
        <p:txBody>
          <a:bodyPr/>
          <a:lstStyle/>
          <a:p>
            <a:fld id="{17C30987-6D08-4BD1-A547-1D993EC84A33}" type="datetime1">
              <a:rPr lang="en-CA" smtClean="0"/>
              <a:t>2025-07-05</a:t>
            </a:fld>
            <a:endParaRPr lang="en-CA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D401C78-F7BE-4248-BD96-72E3667A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49" y="5462940"/>
            <a:ext cx="3086100" cy="365125"/>
          </a:xfrm>
        </p:spPr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C5D7452-52C1-B242-B10C-3827C3C38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000" y="5462939"/>
            <a:ext cx="2057400" cy="365125"/>
          </a:xfrm>
        </p:spPr>
        <p:txBody>
          <a:bodyPr/>
          <a:lstStyle/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E07BB8-6FB3-6B49-B311-C35752AEEB0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82132" y="1820854"/>
            <a:ext cx="3875568" cy="34741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341D5FE-2AE3-E54A-98FE-FEBE932653B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686299" y="1820853"/>
            <a:ext cx="3875568" cy="34741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608343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flat screen television&#10;&#10;Description automatically generated">
            <a:extLst>
              <a:ext uri="{FF2B5EF4-FFF2-40B4-BE49-F238E27FC236}">
                <a16:creationId xmlns:a16="http://schemas.microsoft.com/office/drawing/2014/main" id="{68E27A7F-03B6-FE42-93AE-110B40A2E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E4696-BA1E-8C4A-B286-B1FF1681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32" y="681037"/>
            <a:ext cx="7979735" cy="1009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FA832D60-F93C-254C-8490-AC31B75D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2132" y="5462941"/>
            <a:ext cx="1496292" cy="365125"/>
          </a:xfrm>
        </p:spPr>
        <p:txBody>
          <a:bodyPr/>
          <a:lstStyle/>
          <a:p>
            <a:fld id="{17C30987-6D08-4BD1-A547-1D993EC84A33}" type="datetime1">
              <a:rPr lang="en-CA" smtClean="0"/>
              <a:t>2025-07-05</a:t>
            </a:fld>
            <a:endParaRPr lang="en-CA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D401C78-F7BE-4248-BD96-72E3667A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49" y="5462940"/>
            <a:ext cx="3086100" cy="365125"/>
          </a:xfrm>
        </p:spPr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C5D7452-52C1-B242-B10C-3827C3C38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000" y="5462939"/>
            <a:ext cx="2057400" cy="365125"/>
          </a:xfrm>
        </p:spPr>
        <p:txBody>
          <a:bodyPr/>
          <a:lstStyle/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E07BB8-6FB3-6B49-B311-C35752AEEB0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82132" y="2509340"/>
            <a:ext cx="3875568" cy="2785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AD6586F-30C2-E74C-B316-A00C3A440C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2133" y="1820853"/>
            <a:ext cx="3875567" cy="52056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3994630-1A7C-0E48-9EB9-646689FAE4A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686302" y="2509340"/>
            <a:ext cx="3875568" cy="2785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8CDBBEF-A227-1349-8830-67A6FDDCB02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6302" y="1820853"/>
            <a:ext cx="3875567" cy="52056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7235789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C5D7452-52C1-B242-B10C-3827C3C38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000" y="5462939"/>
            <a:ext cx="2057400" cy="365125"/>
          </a:xfrm>
        </p:spPr>
        <p:txBody>
          <a:bodyPr/>
          <a:lstStyle/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  <p:pic>
        <p:nvPicPr>
          <p:cNvPr id="5" name="Picture 4" descr="A picture containing monitor, indoor, television, sitting&#10;&#10;Description automatically generated">
            <a:extLst>
              <a:ext uri="{FF2B5EF4-FFF2-40B4-BE49-F238E27FC236}">
                <a16:creationId xmlns:a16="http://schemas.microsoft.com/office/drawing/2014/main" id="{167C3926-7944-C34E-AC8E-400C26FF9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218219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8_Title and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007FA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406400" algn="l" rtl="0">
              <a:spcBef>
                <a:spcPts val="15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60" cy="23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3" name="Google Shape;33;p3"/>
          <p:cNvSpPr txBox="1">
            <a:spLocks noGrp="1"/>
          </p:cNvSpPr>
          <p:nvPr>
            <p:ph type="dt" idx="10"/>
          </p:nvPr>
        </p:nvSpPr>
        <p:spPr>
          <a:xfrm>
            <a:off x="6335713" y="113072"/>
            <a:ext cx="2133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4" name="Google Shape;34;p3"/>
          <p:cNvSpPr txBox="1">
            <a:spLocks noGrp="1"/>
          </p:cNvSpPr>
          <p:nvPr>
            <p:ph type="sldNum" idx="12"/>
          </p:nvPr>
        </p:nvSpPr>
        <p:spPr>
          <a:xfrm>
            <a:off x="8469312" y="113072"/>
            <a:ext cx="551783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23883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8_Title and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007FA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406400" algn="l" rtl="0">
              <a:spcBef>
                <a:spcPts val="15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60" cy="23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6335713" y="113072"/>
            <a:ext cx="2133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8469312" y="113072"/>
            <a:ext cx="551783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  <p:sp>
        <p:nvSpPr>
          <p:cNvPr id="41" name="Google Shape;41;p4"/>
          <p:cNvSpPr txBox="1">
            <a:spLocks noGrp="1"/>
          </p:cNvSpPr>
          <p:nvPr>
            <p:ph type="body" idx="2"/>
          </p:nvPr>
        </p:nvSpPr>
        <p:spPr>
          <a:xfrm>
            <a:off x="457200" y="3106611"/>
            <a:ext cx="8229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406400" algn="l" rtl="0">
              <a:spcBef>
                <a:spcPts val="15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3"/>
          </p:nvPr>
        </p:nvSpPr>
        <p:spPr>
          <a:xfrm>
            <a:off x="457200" y="4800600"/>
            <a:ext cx="8229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406400" algn="l" rtl="0">
              <a:spcBef>
                <a:spcPts val="15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09297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85800" y="1071563"/>
            <a:ext cx="7848600" cy="4267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fld id="{DA679CA6-ACDF-4001-9482-9FA058AD7CFF}" type="slidenum">
              <a:rPr lang="en-US"/>
              <a:pPr>
                <a:defRPr/>
              </a:pPr>
              <a:t>‹#›</a:t>
            </a:fld>
            <a:endParaRPr lang="en-US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2060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E79AA1AE-4370-4178-BE02-1926EEE710E8}" type="datetimeFigureOut">
              <a:rPr lang="en-US" smtClean="0"/>
              <a:t>7/5/25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D2E69-BC25-4D81-872F-531FCE72F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247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E79AA1AE-4370-4178-BE02-1926EEE710E8}" type="datetimeFigureOut">
              <a:rPr lang="en-US" smtClean="0"/>
              <a:t>7/5/25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D2E69-BC25-4D81-872F-531FCE72F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460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512FEB-0CF3-4165-AA43-84FF6C2DD3FB}" type="datetime1">
              <a:rPr lang="en-CA" smtClean="0"/>
              <a:t>2025-07-05</a:t>
            </a:fld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Business, 3rd Ed. Copyright  © John C. Hull 2021</a:t>
            </a:r>
            <a:endParaRPr lang="en-CA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7220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itting, refrigerator, monitor, black&#10;&#10;Description automatically generated">
            <a:extLst>
              <a:ext uri="{FF2B5EF4-FFF2-40B4-BE49-F238E27FC236}">
                <a16:creationId xmlns:a16="http://schemas.microsoft.com/office/drawing/2014/main" id="{2C10BC62-8949-CD4E-AF05-641F1C068AE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85857-43F8-AB45-9518-DB53B5829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5474" y="681037"/>
            <a:ext cx="6619875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85A61-6D11-864F-875B-FB7C6EE91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95475" y="1825625"/>
            <a:ext cx="66198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268AF-4E6E-9345-B419-18CCA427C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76845" y="6383257"/>
            <a:ext cx="14962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30987-6D08-4BD1-A547-1D993EC84A33}" type="datetime1">
              <a:rPr lang="en-CA" smtClean="0"/>
              <a:t>2025-07-05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881BB-D0C5-A04C-A7C1-B0430CCEB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06931" y="6383257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1F17D-8E1D-A444-9A1D-4324ABF44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39816" y="638325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0404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248">
          <p15:clr>
            <a:srgbClr val="F26B43"/>
          </p15:clr>
        </p15:guide>
        <p15:guide id="2" pos="74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1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6452" y="1469764"/>
            <a:ext cx="7571096" cy="2387600"/>
          </a:xfrm>
        </p:spPr>
        <p:txBody>
          <a:bodyPr anchor="b">
            <a:normAutofit fontScale="90000"/>
          </a:bodyPr>
          <a:lstStyle/>
          <a:p>
            <a:br>
              <a:rPr lang="en-US" sz="2500" dirty="0"/>
            </a:br>
            <a:br>
              <a:rPr lang="en-US" sz="2500" dirty="0"/>
            </a:br>
            <a:r>
              <a:rPr lang="en-US" sz="2500" dirty="0"/>
              <a:t>ISM6642 – Machine Learning for Business Applications</a:t>
            </a:r>
            <a:br>
              <a:rPr lang="en-US" sz="2500" dirty="0"/>
            </a:br>
            <a:br>
              <a:rPr lang="en-US" sz="2500" dirty="0"/>
            </a:br>
            <a:br>
              <a:rPr lang="en-US" sz="2500" dirty="0"/>
            </a:br>
            <a:br>
              <a:rPr lang="en-US" sz="2500" dirty="0"/>
            </a:br>
            <a:endParaRPr lang="en-CA" sz="2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32474"/>
            <a:ext cx="6858000" cy="1655762"/>
          </a:xfrm>
        </p:spPr>
        <p:txBody>
          <a:bodyPr>
            <a:normAutofit/>
          </a:bodyPr>
          <a:lstStyle/>
          <a:p>
            <a:r>
              <a:rPr lang="en-US" sz="2400" b="1" dirty="0"/>
              <a:t>Logistic Regression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Professor: Dr. Hemang Subramanian</a:t>
            </a:r>
          </a:p>
        </p:txBody>
      </p:sp>
      <p:sp>
        <p:nvSpPr>
          <p:cNvPr id="5" name="Slide Number Placeholder 4" hidden="1"/>
          <p:cNvSpPr>
            <a:spLocks noGrp="1"/>
          </p:cNvSpPr>
          <p:nvPr>
            <p:ph type="sldNum" sz="quarter" idx="4294967295"/>
          </p:nvPr>
        </p:nvSpPr>
        <p:spPr>
          <a:xfrm>
            <a:off x="6839816" y="6383257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E8C09BE-1715-42CA-A91A-E7B0E09A3015}" type="slidenum">
              <a:rPr lang="en-CA" smtClean="0"/>
              <a:pPr>
                <a:spcAft>
                  <a:spcPts val="600"/>
                </a:spcAft>
              </a:pPr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0417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73736" indent="-173736" algn="l" rtl="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rgbClr val="071F3E"/>
                </a:solidFill>
                <a:effectLst/>
                <a:latin typeface="Arial" panose="020B0604020202020204" pitchFamily="34" charset="0"/>
              </a:rPr>
              <a:t>Classification models are typically employed when the dependent variable is categorical (qualitative).</a:t>
            </a:r>
          </a:p>
          <a:p>
            <a:pPr marL="173736" indent="-173736" algn="l" rtl="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rgbClr val="071F3E"/>
                </a:solidFill>
                <a:effectLst/>
                <a:latin typeface="Arial" panose="020B0604020202020204" pitchFamily="34" charset="0"/>
              </a:rPr>
              <a:t>These classification methods often begin by estimating the probability associated with each category of the qualitative variable to inform the classification decision.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512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Logistic Regression</a:t>
            </a:r>
          </a:p>
        </p:txBody>
      </p:sp>
      <p:sp>
        <p:nvSpPr>
          <p:cNvPr id="7171" name="Content Placeholder 3"/>
          <p:cNvSpPr>
            <a:spLocks noGrp="1"/>
          </p:cNvSpPr>
          <p:nvPr>
            <p:ph sz="quarter" idx="1"/>
          </p:nvPr>
        </p:nvSpPr>
        <p:spPr>
          <a:xfrm>
            <a:off x="1862446" y="1890300"/>
            <a:ext cx="7240466" cy="3031788"/>
          </a:xfrm>
        </p:spPr>
        <p:txBody>
          <a:bodyPr>
            <a:noAutofit/>
          </a:bodyPr>
          <a:lstStyle/>
          <a:p>
            <a:pPr marL="173736" indent="-173736" algn="l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100">
                <a:solidFill>
                  <a:srgbClr val="071F3E"/>
                </a:solidFill>
                <a:effectLst/>
                <a:latin typeface="Arial" panose="020B0604020202020204" pitchFamily="34" charset="0"/>
              </a:rPr>
              <a:t>Expands the concept of linear regression to cases where the outcome variable is categorical.</a:t>
            </a:r>
          </a:p>
          <a:p>
            <a:pPr marL="173736" indent="-173736" algn="l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100">
                <a:solidFill>
                  <a:srgbClr val="071F3E"/>
                </a:solidFill>
                <a:effectLst/>
                <a:latin typeface="Arial" panose="020B0604020202020204" pitchFamily="34" charset="0"/>
              </a:rPr>
              <a:t>Our emphasis is on binary classification (i.e., </a:t>
            </a:r>
            <a:r>
              <a:rPr lang="en-US" sz="2100" i="1">
                <a:solidFill>
                  <a:srgbClr val="071F3E"/>
                </a:solidFill>
                <a:effectLst/>
                <a:latin typeface="Arial" panose="020B0604020202020204" pitchFamily="34" charset="0"/>
              </a:rPr>
              <a:t>y</a:t>
            </a:r>
            <a:r>
              <a:rPr lang="en-US" sz="2100">
                <a:solidFill>
                  <a:srgbClr val="071F3E"/>
                </a:solidFill>
                <a:effectLst/>
                <a:latin typeface="Arial" panose="020B0604020202020204" pitchFamily="34" charset="0"/>
              </a:rPr>
              <a:t>=0 or </a:t>
            </a:r>
            <a:r>
              <a:rPr lang="en-US" sz="2100" i="1">
                <a:solidFill>
                  <a:srgbClr val="071F3E"/>
                </a:solidFill>
                <a:effectLst/>
                <a:latin typeface="Arial" panose="020B0604020202020204" pitchFamily="34" charset="0"/>
              </a:rPr>
              <a:t>y</a:t>
            </a:r>
            <a:r>
              <a:rPr lang="en-US" sz="2100">
                <a:solidFill>
                  <a:srgbClr val="071F3E"/>
                </a:solidFill>
                <a:effectLst/>
                <a:latin typeface="Arial" panose="020B0604020202020204" pitchFamily="34" charset="0"/>
              </a:rPr>
              <a:t>=1)</a:t>
            </a:r>
            <a:endParaRPr lang="en-US" altLang="en-US" sz="2100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953" y="3109730"/>
            <a:ext cx="2998283" cy="21010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929" y="3155890"/>
            <a:ext cx="2958551" cy="20571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6405" y="3410043"/>
            <a:ext cx="713144" cy="7644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555" y="3406194"/>
            <a:ext cx="682740" cy="76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46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If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y</a:t>
                </a:r>
                <a:r>
                  <a:rPr lang="en-US" dirty="0"/>
                  <a:t> is an event (true/false, pass/fail, etc.),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and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p</a:t>
                </a:r>
                <a:r>
                  <a:rPr lang="en-US" dirty="0"/>
                  <a:t> is the probability of the event happening (y = 1), 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en-US" altLang="en-US" dirty="0">
                    <a:latin typeface="Franklin Gothic Book" charset="0"/>
                  </a:rPr>
                  <a:t>Need to relate </a:t>
                </a:r>
                <a:r>
                  <a:rPr lang="en-US" altLang="en-US" i="1" dirty="0">
                    <a:latin typeface="Franklin Gothic Book" charset="0"/>
                  </a:rPr>
                  <a:t>p</a:t>
                </a:r>
                <a:r>
                  <a:rPr lang="en-US" altLang="en-US" dirty="0">
                    <a:latin typeface="Franklin Gothic Book" charset="0"/>
                  </a:rPr>
                  <a:t> to predictors with a function that guarantees 0 </a:t>
                </a:r>
                <a:r>
                  <a:rPr lang="en-US" altLang="en-US" dirty="0">
                    <a:latin typeface="Franklin Gothic Book" charset="0"/>
                    <a:sym typeface="Symbol" charset="2"/>
                  </a:rPr>
                  <a:t></a:t>
                </a:r>
                <a:r>
                  <a:rPr lang="en-US" altLang="en-US" dirty="0">
                    <a:latin typeface="Franklin Gothic Book" charset="0"/>
                  </a:rPr>
                  <a:t> </a:t>
                </a:r>
                <a:r>
                  <a:rPr lang="en-US" altLang="en-US" i="1" dirty="0">
                    <a:latin typeface="Franklin Gothic Book" charset="0"/>
                  </a:rPr>
                  <a:t>p</a:t>
                </a:r>
                <a:r>
                  <a:rPr lang="en-US" altLang="en-US" dirty="0">
                    <a:latin typeface="Franklin Gothic Book" charset="0"/>
                  </a:rPr>
                  <a:t> </a:t>
                </a:r>
                <a:r>
                  <a:rPr lang="en-US" altLang="en-US" dirty="0">
                    <a:latin typeface="Franklin Gothic Book" charset="0"/>
                    <a:sym typeface="Symbol" charset="2"/>
                  </a:rPr>
                  <a:t></a:t>
                </a:r>
                <a:r>
                  <a:rPr lang="en-US" altLang="en-US" dirty="0">
                    <a:latin typeface="Franklin Gothic Book" charset="0"/>
                  </a:rPr>
                  <a:t> 1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then (</a:t>
                </a:r>
                <a:r>
                  <a:rPr lang="en-US" b="1" dirty="0">
                    <a:solidFill>
                      <a:srgbClr val="FF0000"/>
                    </a:solidFill>
                  </a:rPr>
                  <a:t>1 – p</a:t>
                </a:r>
                <a:r>
                  <a:rPr lang="en-US" dirty="0"/>
                  <a:t>) is the probability of the event not happening (y = 0),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1500" dirty="0"/>
                  <a:t>Example: We are interested in predicting whether an individual will default on his or her credit card payment, on the basis of annual income, customer credit score and age.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0 </m:t>
                            </m:r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𝑑𝑒𝑓𝑎𝑢𝑙𝑡</m:t>
                            </m:r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𝑓𝑎𝑙𝑠𝑒</m:t>
                            </m:r>
                          </m:e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1 </m:t>
                            </m:r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𝑑𝑒𝑓𝑎𝑢𝑙𝑡</m:t>
                            </m:r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𝑡𝑟𝑢𝑒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0" indent="0"/>
                <a:endParaRPr lang="en-US" altLang="en-US" dirty="0">
                  <a:latin typeface="Franklin Gothic Book" charset="0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alt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41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58686" y="2045065"/>
            <a:ext cx="6619876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283464" algn="l" rtl="0" eaLnBrk="1" latinLnBrk="0" hangingPunct="1">
              <a:buFont typeface="Arial" panose="020B0604020202020204" pitchFamily="34" charset="0"/>
              <a:buChar char="•"/>
            </a:pPr>
            <a:r>
              <a:rPr lang="en-US" sz="1350">
                <a:solidFill>
                  <a:srgbClr val="000000"/>
                </a:solidFill>
                <a:effectLst/>
                <a:latin typeface="Franklin Gothic Book" panose="020B0503020102020204" pitchFamily="34" charset="0"/>
              </a:rPr>
              <a:t>When employing the linear regression method to forecast a default of true, it is possible to end up with a predicted probability that is negative or exceeds 1.</a:t>
            </a:r>
          </a:p>
          <a:p>
            <a:pPr marL="457200" indent="-283464" algn="l" rtl="0" eaLnBrk="1" latinLnBrk="0" hangingPunct="1">
              <a:buFont typeface="Arial" panose="020B0604020202020204" pitchFamily="34" charset="0"/>
              <a:buChar char="•"/>
            </a:pPr>
            <a:r>
              <a:rPr lang="en-US" sz="1350">
                <a:solidFill>
                  <a:srgbClr val="000000"/>
                </a:solidFill>
                <a:effectLst/>
                <a:latin typeface="Franklin Gothic Book" panose="020B0503020102020204" pitchFamily="34" charset="0"/>
              </a:rPr>
              <a:t>However, the actual probability must always lie within the range of 0 to 1. Therefore, the standard linear function is </a:t>
            </a:r>
            <a:r>
              <a:rPr lang="en-US" sz="1350" u="sng">
                <a:solidFill>
                  <a:srgbClr val="000000"/>
                </a:solidFill>
                <a:effectLst/>
                <a:latin typeface="Franklin Gothic Book" panose="020B0503020102020204" pitchFamily="34" charset="0"/>
              </a:rPr>
              <a:t>not</a:t>
            </a:r>
            <a:r>
              <a:rPr lang="en-US" sz="1350">
                <a:solidFill>
                  <a:srgbClr val="000000"/>
                </a:solidFill>
                <a:effectLst/>
                <a:latin typeface="Franklin Gothic Book" panose="020B0503020102020204" pitchFamily="34" charset="0"/>
              </a:rPr>
              <a:t> suitable for this purpose:</a:t>
            </a:r>
            <a:endParaRPr lang="en-US" altLang="en-US" sz="1350" dirty="0">
              <a:latin typeface="Franklin Gothic Book" charset="0"/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190763"/>
              </p:ext>
            </p:extLst>
          </p:nvPr>
        </p:nvGraphicFramePr>
        <p:xfrm>
          <a:off x="2483768" y="3302343"/>
          <a:ext cx="4350882" cy="456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2132732" imgH="323743" progId="Word.Document.12">
                  <p:embed/>
                </p:oleObj>
              </mc:Choice>
              <mc:Fallback>
                <p:oleObj name="Document" r:id="rId3" imgW="2132732" imgH="323743" progId="Word.Document.12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3302343"/>
                        <a:ext cx="4350882" cy="4563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227" y="4319876"/>
            <a:ext cx="625068" cy="76441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pic>
        <p:nvPicPr>
          <p:cNvPr id="9" name="Content Placeholder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296" y="4255131"/>
            <a:ext cx="2314808" cy="162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3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123728" y="1849815"/>
            <a:ext cx="5829300" cy="857250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225" dirty="0"/>
              <a:t>The Fix: </a:t>
            </a:r>
            <a:br>
              <a:rPr lang="en-US" altLang="en-US" sz="3225" dirty="0"/>
            </a:br>
            <a:r>
              <a:rPr lang="en-US" altLang="en-US" sz="3225" dirty="0"/>
              <a:t>use </a:t>
            </a:r>
            <a:r>
              <a:rPr lang="en-US" altLang="en-US" sz="3225" b="1" i="1" dirty="0"/>
              <a:t>logistic function</a:t>
            </a: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/>
        </p:nvGraphicFramePr>
        <p:xfrm>
          <a:off x="-890587" y="2886076"/>
          <a:ext cx="10746581" cy="1308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112895" imgH="502920" progId="Word.Document.12">
                  <p:embed/>
                </p:oleObj>
              </mc:Choice>
              <mc:Fallback>
                <p:oleObj name="Document" r:id="rId2" imgW="4112895" imgH="502920" progId="Word.Document.12">
                  <p:embed/>
                  <p:pic>
                    <p:nvPicPr>
                      <p:cNvPr id="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890587" y="2886076"/>
                        <a:ext cx="10746581" cy="1308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95474" y="4084545"/>
            <a:ext cx="6549279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 eaLnBrk="1" latinLnBrk="0" hangingPunct="1">
              <a:buNone/>
            </a:pPr>
            <a:r>
              <a:rPr lang="en-US" sz="135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logistic function consistently generates a curve that resembles an S-shape.</a:t>
            </a:r>
          </a:p>
          <a:p>
            <a:pPr marL="0" indent="0" algn="l" rtl="0" eaLnBrk="1" latinLnBrk="0" hangingPunct="1">
              <a:buNone/>
            </a:pPr>
            <a:r>
              <a:rPr lang="en-US" sz="135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 a result, no matter the value of X, we can expect a reasonable prediction that falls within the range of 0 to 1.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113887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Odds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charset="2"/>
              <a:buChar char=""/>
              <a:defRPr sz="2600">
                <a:solidFill>
                  <a:schemeClr val="tx1"/>
                </a:solidFill>
                <a:latin typeface="Franklin Gothic Book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charset="2"/>
              <a:buChar char=""/>
              <a:defRPr sz="2400">
                <a:solidFill>
                  <a:schemeClr val="tx1"/>
                </a:solidFill>
                <a:latin typeface="Franklin Gothic Book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charset="2"/>
              <a:buChar char=""/>
              <a:defRPr sz="2000">
                <a:solidFill>
                  <a:schemeClr val="tx1"/>
                </a:solidFill>
                <a:latin typeface="Franklin Gothic Book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charset="2"/>
              <a:buChar char=""/>
              <a:defRPr sz="2000">
                <a:solidFill>
                  <a:schemeClr val="tx1"/>
                </a:solidFill>
                <a:latin typeface="Franklin Gothic Book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Perpetua" charset="0"/>
            </a:endParaRPr>
          </a:p>
        </p:txBody>
      </p:sp>
      <p:graphicFrame>
        <p:nvGraphicFramePr>
          <p:cNvPr id="112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522471"/>
              </p:ext>
            </p:extLst>
          </p:nvPr>
        </p:nvGraphicFramePr>
        <p:xfrm>
          <a:off x="1907502" y="4140487"/>
          <a:ext cx="162401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500" imgH="419100" progId="Equation.3">
                  <p:embed/>
                </p:oleObj>
              </mc:Choice>
              <mc:Fallback>
                <p:oleObj name="Equation" r:id="rId3" imgW="825500" imgH="419100" progId="Equation.3">
                  <p:embed/>
                  <p:pic>
                    <p:nvPicPr>
                      <p:cNvPr id="1127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502" y="4140487"/>
                        <a:ext cx="1624013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 Box 15"/>
          <p:cNvSpPr txBox="1">
            <a:spLocks noChangeArrowheads="1"/>
          </p:cNvSpPr>
          <p:nvPr/>
        </p:nvSpPr>
        <p:spPr bwMode="auto">
          <a:xfrm>
            <a:off x="1835695" y="2259576"/>
            <a:ext cx="41615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charset="2"/>
              <a:buChar char=""/>
              <a:defRPr sz="2600">
                <a:solidFill>
                  <a:schemeClr val="tx1"/>
                </a:solidFill>
                <a:latin typeface="Franklin Gothic Book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charset="2"/>
              <a:buChar char=""/>
              <a:defRPr sz="2400">
                <a:solidFill>
                  <a:schemeClr val="tx1"/>
                </a:solidFill>
                <a:latin typeface="Franklin Gothic Book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charset="2"/>
              <a:buChar char=""/>
              <a:defRPr sz="2000">
                <a:solidFill>
                  <a:schemeClr val="tx1"/>
                </a:solidFill>
                <a:latin typeface="Franklin Gothic Book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charset="2"/>
              <a:buChar char=""/>
              <a:defRPr sz="2000">
                <a:solidFill>
                  <a:schemeClr val="tx1"/>
                </a:solidFill>
                <a:latin typeface="Franklin Gothic Book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/>
              <a:t>The odds of an event are defined as:</a:t>
            </a:r>
          </a:p>
        </p:txBody>
      </p:sp>
      <p:sp>
        <p:nvSpPr>
          <p:cNvPr id="11272" name="Line 16"/>
          <p:cNvSpPr>
            <a:spLocks noChangeShapeType="1"/>
          </p:cNvSpPr>
          <p:nvPr/>
        </p:nvSpPr>
        <p:spPr bwMode="auto">
          <a:xfrm flipH="1" flipV="1">
            <a:off x="3915916" y="4499472"/>
            <a:ext cx="800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1273" name="Text Box 17"/>
          <p:cNvSpPr txBox="1">
            <a:spLocks noChangeArrowheads="1"/>
          </p:cNvSpPr>
          <p:nvPr/>
        </p:nvSpPr>
        <p:spPr bwMode="auto">
          <a:xfrm>
            <a:off x="5228630" y="4351358"/>
            <a:ext cx="26289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charset="2"/>
              <a:buChar char=""/>
              <a:defRPr sz="2600">
                <a:solidFill>
                  <a:schemeClr val="tx1"/>
                </a:solidFill>
                <a:latin typeface="Franklin Gothic Book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charset="2"/>
              <a:buChar char=""/>
              <a:defRPr sz="2400">
                <a:solidFill>
                  <a:schemeClr val="tx1"/>
                </a:solidFill>
                <a:latin typeface="Franklin Gothic Book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charset="2"/>
              <a:buChar char=""/>
              <a:defRPr sz="2000">
                <a:solidFill>
                  <a:schemeClr val="tx1"/>
                </a:solidFill>
                <a:latin typeface="Franklin Gothic Book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charset="2"/>
              <a:buChar char=""/>
              <a:defRPr sz="2000">
                <a:solidFill>
                  <a:schemeClr val="tx1"/>
                </a:solidFill>
                <a:latin typeface="Franklin Gothic Book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i="1" dirty="0"/>
              <a:t>p</a:t>
            </a:r>
            <a:r>
              <a:rPr lang="en-US" altLang="en-US" sz="1800" dirty="0"/>
              <a:t> = probability of event</a:t>
            </a:r>
          </a:p>
        </p:txBody>
      </p:sp>
      <p:graphicFrame>
        <p:nvGraphicFramePr>
          <p:cNvPr id="1127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8141142"/>
              </p:ext>
            </p:extLst>
          </p:nvPr>
        </p:nvGraphicFramePr>
        <p:xfrm>
          <a:off x="6228184" y="3409864"/>
          <a:ext cx="1428750" cy="682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500" imgH="393700" progId="Equation.3">
                  <p:embed/>
                </p:oleObj>
              </mc:Choice>
              <mc:Fallback>
                <p:oleObj name="Equation" r:id="rId5" imgW="825500" imgH="393700" progId="Equation.3">
                  <p:embed/>
                  <p:pic>
                    <p:nvPicPr>
                      <p:cNvPr id="1127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3409864"/>
                        <a:ext cx="1428750" cy="682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Text Box 19"/>
          <p:cNvSpPr txBox="1">
            <a:spLocks noChangeArrowheads="1"/>
          </p:cNvSpPr>
          <p:nvPr/>
        </p:nvSpPr>
        <p:spPr bwMode="auto">
          <a:xfrm>
            <a:off x="1895473" y="3099275"/>
            <a:ext cx="484471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charset="2"/>
              <a:buChar char=""/>
              <a:defRPr sz="2600">
                <a:solidFill>
                  <a:schemeClr val="tx1"/>
                </a:solidFill>
                <a:latin typeface="Franklin Gothic Book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charset="2"/>
              <a:buChar char=""/>
              <a:defRPr sz="2400">
                <a:solidFill>
                  <a:schemeClr val="tx1"/>
                </a:solidFill>
                <a:latin typeface="Franklin Gothic Book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charset="2"/>
              <a:buChar char=""/>
              <a:defRPr sz="2000">
                <a:solidFill>
                  <a:schemeClr val="tx1"/>
                </a:solidFill>
                <a:latin typeface="Franklin Gothic Book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charset="2"/>
              <a:buChar char=""/>
              <a:defRPr sz="2000">
                <a:solidFill>
                  <a:schemeClr val="tx1"/>
                </a:solidFill>
                <a:latin typeface="Franklin Gothic Book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/>
              <a:t>Or, given the odds of an event, the probability of the event can be computed by: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8"/>
              <p:cNvSpPr txBox="1"/>
              <p:nvPr/>
            </p:nvSpPr>
            <p:spPr bwMode="auto">
              <a:xfrm>
                <a:off x="5658480" y="2308492"/>
                <a:ext cx="2953940" cy="4155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𝑂𝑑𝑑𝑠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8480" y="2308492"/>
                <a:ext cx="2953940" cy="4155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1037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 can also relate the Odds to the predictors: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2" name="Object 8"/>
              <p:cNvSpPr txBox="1"/>
              <p:nvPr/>
            </p:nvSpPr>
            <p:spPr bwMode="auto">
              <a:xfrm>
                <a:off x="2681287" y="2686050"/>
                <a:ext cx="3090863" cy="4345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𝑂𝑑𝑑𝑠</m:t>
                      </m:r>
                      <m:r>
                        <a:rPr lang="en-US" sz="1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1229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1287" y="2686050"/>
                <a:ext cx="3090863" cy="4345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 bwMode="auto">
              <a:xfrm>
                <a:off x="1810942" y="3400425"/>
                <a:ext cx="4955381" cy="4857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3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𝑂𝑑𝑑𝑠</m:t>
                      </m:r>
                      <m:r>
                        <a:rPr lang="en-US" sz="1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0942" y="3400425"/>
                <a:ext cx="4955381" cy="485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/>
          <p:cNvSpPr/>
          <p:nvPr/>
        </p:nvSpPr>
        <p:spPr>
          <a:xfrm>
            <a:off x="1632858" y="3310210"/>
            <a:ext cx="1567543" cy="666206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135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12591" y="3976416"/>
            <a:ext cx="1408078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405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Logit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11179" y="4668913"/>
            <a:ext cx="596972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100" dirty="0">
                <a:latin typeface="Calibri" panose="020F0502020204030204" pitchFamily="34" charset="0"/>
              </a:rPr>
              <a:t>So, the logit is a linear function of predictors x</a:t>
            </a:r>
            <a:r>
              <a:rPr lang="en-US" altLang="en-US" sz="21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100" dirty="0">
                <a:latin typeface="Calibri" panose="020F0502020204030204" pitchFamily="34" charset="0"/>
              </a:rPr>
              <a:t>, x</a:t>
            </a:r>
            <a:r>
              <a:rPr lang="en-US" altLang="en-US" sz="21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100" dirty="0">
                <a:latin typeface="Calibri" panose="020F0502020204030204" pitchFamily="34" charset="0"/>
              </a:rPr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40851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Interpreting Odds, Probability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sz="quarter" idx="1"/>
          </p:nvPr>
        </p:nvSpPr>
        <p:spPr>
          <a:xfrm>
            <a:off x="1895474" y="1920479"/>
            <a:ext cx="6451692" cy="32438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100">
                <a:latin typeface="Calibri" panose="020F0502020204030204" pitchFamily="34" charset="0"/>
              </a:rPr>
              <a:t>For explanatory purposes, odds have a useful interpretation:</a:t>
            </a:r>
          </a:p>
          <a:p>
            <a:pPr marL="428625" lvl="1"/>
            <a:r>
              <a:rPr lang="en-US" altLang="en-US">
                <a:latin typeface="Calibri" panose="020F0502020204030204" pitchFamily="34" charset="0"/>
              </a:rPr>
              <a:t>If we increase x</a:t>
            </a:r>
            <a:r>
              <a:rPr lang="en-US" altLang="en-US" baseline="-25000">
                <a:latin typeface="Calibri" panose="020F0502020204030204" pitchFamily="34" charset="0"/>
              </a:rPr>
              <a:t>1</a:t>
            </a:r>
            <a:r>
              <a:rPr lang="en-US" altLang="en-US">
                <a:latin typeface="Calibri" panose="020F0502020204030204" pitchFamily="34" charset="0"/>
              </a:rPr>
              <a:t> by one unit, holding x</a:t>
            </a:r>
            <a:r>
              <a:rPr lang="en-US" altLang="en-US" baseline="-25000">
                <a:latin typeface="Calibri" panose="020F0502020204030204" pitchFamily="34" charset="0"/>
              </a:rPr>
              <a:t>2</a:t>
            </a:r>
            <a:r>
              <a:rPr lang="en-US" altLang="en-US">
                <a:latin typeface="Calibri" panose="020F0502020204030204" pitchFamily="34" charset="0"/>
              </a:rPr>
              <a:t>, x</a:t>
            </a:r>
            <a:r>
              <a:rPr lang="en-US" altLang="en-US" baseline="-25000">
                <a:latin typeface="Calibri" panose="020F0502020204030204" pitchFamily="34" charset="0"/>
              </a:rPr>
              <a:t>3,</a:t>
            </a:r>
            <a:r>
              <a:rPr lang="en-US" altLang="en-US">
                <a:latin typeface="Calibri" panose="020F0502020204030204" pitchFamily="34" charset="0"/>
              </a:rPr>
              <a:t> … x</a:t>
            </a:r>
            <a:r>
              <a:rPr lang="en-US" altLang="en-US" baseline="-25000">
                <a:latin typeface="Calibri" panose="020F0502020204030204" pitchFamily="34" charset="0"/>
              </a:rPr>
              <a:t>n</a:t>
            </a:r>
            <a:r>
              <a:rPr lang="en-US" altLang="en-US">
                <a:latin typeface="Calibri" panose="020F0502020204030204" pitchFamily="34" charset="0"/>
              </a:rPr>
              <a:t> constant, then </a:t>
            </a:r>
            <a:r>
              <a:rPr lang="el-GR" altLang="en-US" i="1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i="1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>
                <a:latin typeface="Calibri" panose="020F0502020204030204" pitchFamily="34" charset="0"/>
              </a:rPr>
              <a:t> is the factor by which the log odds of belonging to class 1 increase</a:t>
            </a:r>
            <a:endParaRPr lang="en-US" altLang="en-US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A4D909A5-C060-4376-9FA8-F6A57AD6B7D6}"/>
                  </a:ext>
                </a:extLst>
              </p:cNvPr>
              <p:cNvSpPr txBox="1"/>
              <p:nvPr/>
            </p:nvSpPr>
            <p:spPr bwMode="auto">
              <a:xfrm>
                <a:off x="3203848" y="3433011"/>
                <a:ext cx="4955381" cy="4857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𝑂𝑑𝑑𝑠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A4D909A5-C060-4376-9FA8-F6A57AD6B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3848" y="3433011"/>
                <a:ext cx="4955381" cy="485775"/>
              </a:xfrm>
              <a:prstGeom prst="rect">
                <a:avLst/>
              </a:prstGeom>
              <a:blipFill>
                <a:blip r:embed="rId3"/>
                <a:stretch>
                  <a:fillRect l="-1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7228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Lending Club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consists of loans made and whether they proved to be good or defaulted. </a:t>
            </a:r>
          </a:p>
          <a:p>
            <a:r>
              <a:rPr lang="en-US" dirty="0"/>
              <a:t>We illustrate using only four features</a:t>
            </a:r>
          </a:p>
          <a:p>
            <a:pPr lvl="1"/>
            <a:r>
              <a:rPr lang="en-CA" dirty="0"/>
              <a:t>Home ownership (rent vs. own)</a:t>
            </a:r>
          </a:p>
          <a:p>
            <a:pPr lvl="1"/>
            <a:r>
              <a:rPr lang="en-CA" dirty="0"/>
              <a:t>Income</a:t>
            </a:r>
          </a:p>
          <a:p>
            <a:pPr lvl="1"/>
            <a:r>
              <a:rPr lang="en-CA" dirty="0"/>
              <a:t>Debt to income</a:t>
            </a:r>
          </a:p>
          <a:p>
            <a:pPr lvl="1"/>
            <a:r>
              <a:rPr lang="en-CA" dirty="0"/>
              <a:t>Credit score</a:t>
            </a:r>
            <a:endParaRPr lang="en-US" dirty="0"/>
          </a:p>
          <a:p>
            <a:r>
              <a:rPr lang="en-US" dirty="0"/>
              <a:t>Data set has 12,290 observations (9,733 good loans “Fully Paid” and 2,557 defaulting loans “Charged Off”). </a:t>
            </a:r>
          </a:p>
          <a:p>
            <a:r>
              <a:rPr lang="en-US" dirty="0"/>
              <a:t>7,000 loans were put in training set, 3,000 in validation set, and 2,290 in test set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Business,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8743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00" dirty="0"/>
              <a:t>The Data</a:t>
            </a:r>
            <a:endParaRPr lang="en-CA" sz="2700" i="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457899"/>
              </p:ext>
            </p:extLst>
          </p:nvPr>
        </p:nvGraphicFramePr>
        <p:xfrm>
          <a:off x="1862628" y="2348880"/>
          <a:ext cx="6800851" cy="2918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777">
                  <a:extLst>
                    <a:ext uri="{9D8B030D-6E8A-4147-A177-3AD203B41FA5}">
                      <a16:colId xmlns:a16="http://schemas.microsoft.com/office/drawing/2014/main" val="1013518420"/>
                    </a:ext>
                  </a:extLst>
                </a:gridCol>
                <a:gridCol w="1331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4224">
                  <a:extLst>
                    <a:ext uri="{9D8B030D-6E8A-4147-A177-3AD203B41FA5}">
                      <a16:colId xmlns:a16="http://schemas.microsoft.com/office/drawing/2014/main" val="3818158830"/>
                    </a:ext>
                  </a:extLst>
                </a:gridCol>
                <a:gridCol w="1270481">
                  <a:extLst>
                    <a:ext uri="{9D8B030D-6E8A-4147-A177-3AD203B41FA5}">
                      <a16:colId xmlns:a16="http://schemas.microsoft.com/office/drawing/2014/main" val="40524044"/>
                    </a:ext>
                  </a:extLst>
                </a:gridCol>
                <a:gridCol w="1562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8529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Home Ownership</a:t>
                      </a:r>
                    </a:p>
                    <a:p>
                      <a:pPr algn="ctr"/>
                      <a:r>
                        <a:rPr lang="en-CA" sz="1600" dirty="0"/>
                        <a:t>1=owns, 0 =rents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Income ($’000)</a:t>
                      </a:r>
                      <a:endParaRPr lang="en-CA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Debt to Income (%)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Credit score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1=Good,</a:t>
                      </a:r>
                      <a:r>
                        <a:rPr lang="en-US" sz="1600" baseline="0" dirty="0"/>
                        <a:t> 0=Default</a:t>
                      </a:r>
                      <a:endParaRPr lang="en-CA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44.304</a:t>
                      </a:r>
                      <a:endParaRPr lang="en-CA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18.47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690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A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50.000</a:t>
                      </a:r>
                      <a:endParaRPr lang="en-CA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29.62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735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A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64.400</a:t>
                      </a:r>
                      <a:endParaRPr lang="en-CA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16.68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675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A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38.500</a:t>
                      </a:r>
                      <a:endParaRPr lang="en-CA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33.73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660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A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….</a:t>
                      </a:r>
                      <a:endParaRPr lang="en-CA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….</a:t>
                      </a:r>
                      <a:endParaRPr lang="en-CA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…..</a:t>
                      </a:r>
                      <a:endParaRPr lang="en-CA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….</a:t>
                      </a:r>
                      <a:endParaRPr lang="en-CA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Business,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5630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6845" y="852776"/>
            <a:ext cx="6738505" cy="1009651"/>
          </a:xfrm>
        </p:spPr>
        <p:txBody>
          <a:bodyPr anchor="ctr">
            <a:normAutofit/>
          </a:bodyPr>
          <a:lstStyle/>
          <a:p>
            <a:r>
              <a:rPr lang="en-CA" dirty="0"/>
              <a:t>Results for Lending Club Training Set (Unscaled data)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76844" y="1963882"/>
                <a:ext cx="6738506" cy="42130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X</a:t>
                </a:r>
                <a:r>
                  <a:rPr lang="en-US" i="1" baseline="-25000" dirty="0"/>
                  <a:t>1</a:t>
                </a:r>
                <a:r>
                  <a:rPr lang="en-US" i="1" dirty="0"/>
                  <a:t>= Home Ownership</a:t>
                </a:r>
              </a:p>
              <a:p>
                <a:pPr marL="0" indent="0">
                  <a:buNone/>
                </a:pPr>
                <a:r>
                  <a:rPr lang="en-US" i="1" dirty="0"/>
                  <a:t>X</a:t>
                </a:r>
                <a:r>
                  <a:rPr lang="en-US" i="1" baseline="-25000" dirty="0"/>
                  <a:t>2</a:t>
                </a:r>
                <a:r>
                  <a:rPr lang="en-US" i="1" baseline="30000" dirty="0"/>
                  <a:t>=</a:t>
                </a:r>
                <a:r>
                  <a:rPr lang="en-US" i="1" dirty="0"/>
                  <a:t> Income</a:t>
                </a:r>
              </a:p>
              <a:p>
                <a:pPr marL="0" indent="0">
                  <a:buNone/>
                </a:pPr>
                <a:r>
                  <a:rPr lang="en-US" i="1" dirty="0"/>
                  <a:t>X</a:t>
                </a:r>
                <a:r>
                  <a:rPr lang="en-US" i="1" baseline="-25000" dirty="0"/>
                  <a:t>3</a:t>
                </a:r>
                <a:r>
                  <a:rPr lang="en-US" i="1" dirty="0"/>
                  <a:t>= Debt to income ratio</a:t>
                </a:r>
                <a:endParaRPr lang="en-CA" i="1" dirty="0"/>
              </a:p>
              <a:p>
                <a:pPr marL="0" indent="0">
                  <a:buNone/>
                </a:pPr>
                <a:r>
                  <a:rPr lang="en-US" i="1" dirty="0"/>
                  <a:t>X</a:t>
                </a:r>
                <a:r>
                  <a:rPr lang="en-US" i="1" baseline="-25000" dirty="0"/>
                  <a:t>4</a:t>
                </a:r>
                <a:r>
                  <a:rPr lang="en-US" i="1" dirty="0"/>
                  <a:t> = Credit score</a:t>
                </a:r>
                <a:endParaRPr lang="en-CA" i="1" dirty="0"/>
              </a:p>
              <a:p>
                <a:pPr marL="0" indent="0">
                  <a:buNone/>
                </a:pPr>
                <a:endParaRPr lang="en-CA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=−6.1546+0.297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+0.0006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−0.0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365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+0.011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5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US" dirty="0"/>
                  <a:t>Probability of a good loan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p>
                        </m:sSup>
                      </m:den>
                    </m:f>
                  </m:oMath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6844" y="1963882"/>
                <a:ext cx="6738506" cy="4213081"/>
              </a:xfrm>
              <a:blipFill>
                <a:blip r:embed="rId2"/>
                <a:stretch>
                  <a:fillRect l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06931" y="6383257"/>
            <a:ext cx="308610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Machine Learning in Business,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39816" y="6383257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E8C09BE-1715-42CA-A91A-E7B0E09A3015}" type="slidenum">
              <a:rPr lang="en-CA" smtClean="0"/>
              <a:pPr>
                <a:spcAft>
                  <a:spcPts val="600"/>
                </a:spcAft>
              </a:pPr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1163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6845" y="852776"/>
            <a:ext cx="6738505" cy="1009651"/>
          </a:xfrm>
        </p:spPr>
        <p:txBody>
          <a:bodyPr anchor="ctr">
            <a:normAutofit/>
          </a:bodyPr>
          <a:lstStyle/>
          <a:p>
            <a:r>
              <a:rPr lang="en-US" dirty="0"/>
              <a:t>Decision Criterion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6844" y="1963882"/>
            <a:ext cx="6738506" cy="421308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The data set is imbalanced with more good loans than defaulting loans</a:t>
            </a:r>
          </a:p>
          <a:p>
            <a:r>
              <a:rPr lang="en-US" dirty="0"/>
              <a:t>There are procedures for creating a balanced data set</a:t>
            </a:r>
          </a:p>
          <a:p>
            <a:r>
              <a:rPr lang="en-US" dirty="0"/>
              <a:t>With a balanced data set we could classify an observation as positive if </a:t>
            </a:r>
            <a:r>
              <a:rPr lang="en-US" i="1"/>
              <a:t>Q</a:t>
            </a:r>
            <a:r>
              <a:rPr lang="en-US"/>
              <a:t> &gt; 0.5</a:t>
            </a:r>
            <a:r>
              <a:rPr lang="en-US" dirty="0"/>
              <a:t> and negative otherwise</a:t>
            </a:r>
          </a:p>
          <a:p>
            <a:r>
              <a:rPr lang="en-US" dirty="0"/>
              <a:t>However this does not consider the cost of misclassifying a bad loan and the lost profit from misclassifying a good loan</a:t>
            </a:r>
          </a:p>
          <a:p>
            <a:r>
              <a:rPr lang="en-US" dirty="0"/>
              <a:t>A better approach is to investigate different thresholds, </a:t>
            </a:r>
            <a:r>
              <a:rPr lang="en-US" i="1"/>
              <a:t>Z</a:t>
            </a:r>
          </a:p>
          <a:p>
            <a:pPr lvl="1"/>
            <a:r>
              <a:rPr lang="en-US" sz="1500"/>
              <a:t>If </a:t>
            </a:r>
            <a:r>
              <a:rPr lang="en-US" sz="1500" i="1"/>
              <a:t>Q </a:t>
            </a:r>
            <a:r>
              <a:rPr lang="en-US" sz="1500"/>
              <a:t>&gt; </a:t>
            </a:r>
            <a:r>
              <a:rPr lang="en-US" sz="1500" i="1"/>
              <a:t>Z</a:t>
            </a:r>
            <a:r>
              <a:rPr lang="en-US" sz="1500"/>
              <a:t> we accept a loan</a:t>
            </a:r>
          </a:p>
          <a:p>
            <a:pPr lvl="1"/>
            <a:r>
              <a:rPr lang="en-US" sz="1500"/>
              <a:t>If </a:t>
            </a:r>
            <a:r>
              <a:rPr lang="en-US" sz="1500" i="1"/>
              <a:t>Q</a:t>
            </a:r>
            <a:r>
              <a:rPr lang="en-US" sz="1500"/>
              <a:t> ≤ </a:t>
            </a:r>
            <a:r>
              <a:rPr lang="en-US" sz="1500" i="1"/>
              <a:t>Z</a:t>
            </a:r>
            <a:r>
              <a:rPr lang="en-US" sz="1500"/>
              <a:t> we reject the loan</a:t>
            </a:r>
            <a:endParaRPr lang="en-CA" sz="15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06931" y="6383257"/>
            <a:ext cx="308610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Machine Learning in Business,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39816" y="6383257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79D778-5668-409F-BE61-8F31D5437AFC}" type="slidenum">
              <a:rPr lang="en-CA" smtClean="0"/>
              <a:pPr>
                <a:spcAft>
                  <a:spcPts val="600"/>
                </a:spcAft>
              </a:pPr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3467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BD2D-BE08-8C5F-BA3C-EB522F714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CONFUSION MATRIX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38768-E760-1263-D537-D9A96B401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INCLASS EXERCISE TO REMOVE ALL CONFUSIONS….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DE0BC1-334E-EA88-E02A-46A68786D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EA057-59D1-6784-5683-00914DAD0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6232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835696" y="553233"/>
            <a:ext cx="6768752" cy="1143000"/>
          </a:xfrm>
        </p:spPr>
        <p:txBody>
          <a:bodyPr/>
          <a:lstStyle/>
          <a:p>
            <a:r>
              <a:rPr lang="en-CA" dirty="0"/>
              <a:t>The Confusion matrix and common ratios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07830" y="147444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 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Business, 3rd Ed. Copyright  © John C. Hull 2021</a:t>
            </a:r>
            <a:endParaRPr lang="en-CA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15</a:t>
            </a:fld>
            <a:endParaRPr lang="en-CA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984959"/>
              </p:ext>
            </p:extLst>
          </p:nvPr>
        </p:nvGraphicFramePr>
        <p:xfrm>
          <a:off x="1853650" y="1895739"/>
          <a:ext cx="6080760" cy="86772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26920">
                  <a:extLst>
                    <a:ext uri="{9D8B030D-6E8A-4147-A177-3AD203B41FA5}">
                      <a16:colId xmlns:a16="http://schemas.microsoft.com/office/drawing/2014/main" val="533857190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3526610518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2260066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</a:rPr>
                        <a:t> </a:t>
                      </a:r>
                      <a:endParaRPr lang="en-C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</a:rPr>
                        <a:t>Predict positive outcome</a:t>
                      </a:r>
                      <a:endParaRPr lang="en-CA" sz="1100" dirty="0">
                        <a:effectLst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</a:rPr>
                        <a:t> </a:t>
                      </a:r>
                      <a:endParaRPr lang="en-C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>
                          <a:effectLst/>
                        </a:rPr>
                        <a:t>Predict negative outcome</a:t>
                      </a:r>
                      <a:endParaRPr lang="en-CA" sz="1100">
                        <a:effectLst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>
                          <a:effectLst/>
                        </a:rPr>
                        <a:t> 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0096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</a:rPr>
                        <a:t>Outcome positive </a:t>
                      </a:r>
                      <a:endParaRPr lang="en-C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>
                          <a:effectLst/>
                        </a:rPr>
                        <a:t>TP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>
                          <a:effectLst/>
                        </a:rPr>
                        <a:t>FN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1715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>
                          <a:effectLst/>
                        </a:rPr>
                        <a:t>Outcome negative 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</a:rPr>
                        <a:t>FP</a:t>
                      </a:r>
                      <a:endParaRPr lang="en-C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</a:rPr>
                        <a:t>TN</a:t>
                      </a:r>
                      <a:endParaRPr lang="en-C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3925308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007830" y="260842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269871" y="2920770"/>
                <a:ext cx="6363443" cy="35562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800"/>
                  </a:spcAft>
                  <a:tabLst>
                    <a:tab pos="38385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z="140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Accuracy</m:t>
                      </m:r>
                      <m:r>
                        <a:rPr lang="en-CA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CA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TP</m:t>
                          </m:r>
                          <m: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TP</m:t>
                          </m:r>
                          <m: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FN</m:t>
                          </m:r>
                          <m: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FP</m:t>
                          </m:r>
                          <m: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TN</m:t>
                          </m:r>
                        </m:den>
                      </m:f>
                    </m:oMath>
                  </m:oMathPara>
                </a14:m>
                <a:endParaRPr lang="en-CA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800"/>
                  </a:spcAft>
                  <a:tabLst>
                    <a:tab pos="38385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True</m:t>
                      </m:r>
                      <m: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Positive</m:t>
                      </m:r>
                      <m: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Rate</m:t>
                      </m:r>
                      <m:r>
                        <a:rPr lang="en-CA" sz="1400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TPR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1400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also</m:t>
                      </m:r>
                      <m:r>
                        <a:rPr lang="en-CA" sz="1400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1400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called</m:t>
                      </m:r>
                      <m:r>
                        <a:rPr lang="en-CA" sz="1400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1400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sensitivity</m:t>
                      </m:r>
                      <m:r>
                        <a:rPr lang="en-CA" sz="1400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1400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or</m:t>
                      </m:r>
                      <m:r>
                        <a:rPr lang="en-CA" sz="1400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1400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recall</m:t>
                      </m:r>
                      <m:r>
                        <a:rPr lang="en-CA" sz="1400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CA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CA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TP</m:t>
                          </m:r>
                          <m: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FN</m:t>
                          </m:r>
                        </m:den>
                      </m:f>
                    </m:oMath>
                  </m:oMathPara>
                </a14:m>
                <a:endParaRPr lang="en-CA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800"/>
                  </a:spcAft>
                  <a:tabLst>
                    <a:tab pos="38385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The</m:t>
                      </m:r>
                      <m: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True</m:t>
                      </m:r>
                      <m: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Negative</m:t>
                      </m:r>
                      <m: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rate</m:t>
                      </m:r>
                      <m:d>
                        <m:dPr>
                          <m:ctrlPr>
                            <a:rPr lang="en-CA" sz="14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CA" sz="1400" b="0" i="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also</m:t>
                          </m:r>
                          <m:r>
                            <a:rPr lang="en-CA" sz="1400" b="0" i="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sz="1400" b="0" i="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called</m:t>
                          </m:r>
                          <m:r>
                            <a:rPr lang="en-CA" sz="1400" b="0" i="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sz="1400" b="0" i="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specificity</m:t>
                          </m:r>
                        </m:e>
                      </m:d>
                      <m:r>
                        <a:rPr lang="en-CA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CA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TN</m:t>
                          </m:r>
                          <m: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FP</m:t>
                          </m:r>
                        </m:den>
                      </m:f>
                    </m:oMath>
                  </m:oMathPara>
                </a14:m>
                <a:endParaRPr lang="en-CA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800"/>
                  </a:spcAft>
                  <a:tabLst>
                    <a:tab pos="38385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The</m:t>
                      </m:r>
                      <m: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False</m:t>
                      </m:r>
                      <m: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Positive</m:t>
                      </m:r>
                      <m: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Rate</m:t>
                      </m:r>
                      <m:r>
                        <a:rPr lang="en-CA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CA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TN</m:t>
                          </m:r>
                          <m: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FP</m:t>
                          </m:r>
                        </m:den>
                      </m:f>
                    </m:oMath>
                  </m:oMathPara>
                </a14:m>
                <a:endParaRPr lang="en-CA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tabLst>
                    <a:tab pos="38385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z="1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Precisio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n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a:rPr lang="en-CA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CA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TP</m:t>
                          </m:r>
                          <m: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CA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FP</m:t>
                          </m:r>
                        </m:den>
                      </m:f>
                    </m:oMath>
                  </m:oMathPara>
                </a14:m>
                <a:endParaRPr lang="en-US" sz="14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tabLst>
                    <a:tab pos="38385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a:rPr lang="en-US" sz="1400" b="0" i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score</m:t>
                      </m:r>
                      <m:r>
                        <a:rPr lang="en-US" sz="14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=2</m:t>
                      </m:r>
                      <m:r>
                        <a:rPr lang="en-US" sz="1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4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400" b="0" i="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sz="1400" b="0" i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TPR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400" b="0" i="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sz="1400" b="0" i="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TPR</m:t>
                          </m:r>
                        </m:den>
                      </m:f>
                    </m:oMath>
                  </m:oMathPara>
                </a14:m>
                <a:endParaRPr lang="en-CA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871" y="2920770"/>
                <a:ext cx="6363443" cy="35562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8424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930275"/>
            <a:ext cx="6192687" cy="1143000"/>
          </a:xfrm>
        </p:spPr>
        <p:txBody>
          <a:bodyPr/>
          <a:lstStyle/>
          <a:p>
            <a:r>
              <a:rPr lang="en-US" dirty="0"/>
              <a:t>Test Set Results</a:t>
            </a:r>
            <a:endParaRPr lang="en-CA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3848" y="2204864"/>
          <a:ext cx="3690619" cy="112185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97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7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20320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 no default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 default</a:t>
                      </a:r>
                      <a:endParaRPr lang="en-CA" sz="120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Outcome positive (no default)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20320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60.83%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18.34%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Outcome negative (default)</a:t>
                      </a:r>
                      <a:endParaRPr lang="en-CA" sz="120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20320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11.70%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9.13%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75856" y="3501009"/>
          <a:ext cx="3672409" cy="112185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4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 no default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 default</a:t>
                      </a:r>
                      <a:endParaRPr lang="en-CA" sz="120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06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Outcome</a:t>
                      </a:r>
                      <a:r>
                        <a:rPr lang="en-CA" sz="120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positive (no default)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42.71%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36.46%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Outcome negative (default)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6.46%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14.37%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75856" y="4869160"/>
          <a:ext cx="3672408" cy="112185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72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indent="180340" algn="just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20320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 no default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 default</a:t>
                      </a:r>
                      <a:endParaRPr lang="en-CA" sz="120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Outcome positive (no default)</a:t>
                      </a:r>
                      <a:endParaRPr lang="en-CA" sz="120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20320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22.75%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56.42%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Outcome negative (default)</a:t>
                      </a:r>
                      <a:endParaRPr lang="en-CA" sz="120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20320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3.01%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17.82%</a:t>
                      </a:r>
                      <a:endParaRPr lang="en-CA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182376" y="266067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+mj-lt"/>
              </a:rPr>
              <a:t>Z </a:t>
            </a:r>
            <a:r>
              <a:rPr lang="en-US" dirty="0">
                <a:latin typeface="+mj-lt"/>
              </a:rPr>
              <a:t>= 0.75:</a:t>
            </a:r>
            <a:endParaRPr lang="en-CA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57281" y="3944935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+mj-lt"/>
              </a:rPr>
              <a:t>Z</a:t>
            </a:r>
            <a:r>
              <a:rPr lang="en-US" dirty="0">
                <a:latin typeface="+mj-lt"/>
              </a:rPr>
              <a:t>=0.80</a:t>
            </a:r>
            <a:r>
              <a:rPr lang="en-US" dirty="0"/>
              <a:t>:</a:t>
            </a:r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2267744" y="522920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Z=0.85:</a:t>
            </a:r>
            <a:endParaRPr lang="en-CA" dirty="0">
              <a:latin typeface="+mj-lt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Business, 3rd Ed. Copyright  © John C. Hull 2021</a:t>
            </a:r>
            <a:endParaRPr lang="en-C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4240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930275"/>
            <a:ext cx="6254775" cy="1143000"/>
          </a:xfrm>
        </p:spPr>
        <p:txBody>
          <a:bodyPr/>
          <a:lstStyle/>
          <a:p>
            <a:r>
              <a:rPr lang="en-CA" dirty="0"/>
              <a:t>Test Set Ratios for different Z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609384"/>
            <a:ext cx="7332663" cy="3653303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Business,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17</a:t>
            </a:fld>
            <a:endParaRPr lang="en-CA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359444"/>
              </p:ext>
            </p:extLst>
          </p:nvPr>
        </p:nvGraphicFramePr>
        <p:xfrm>
          <a:off x="1881629" y="2488814"/>
          <a:ext cx="6336704" cy="35718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0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6434">
                  <a:extLst>
                    <a:ext uri="{9D8B030D-6E8A-4147-A177-3AD203B41FA5}">
                      <a16:colId xmlns:a16="http://schemas.microsoft.com/office/drawing/2014/main" val="3799051232"/>
                    </a:ext>
                  </a:extLst>
                </a:gridCol>
                <a:gridCol w="986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3755">
                  <a:extLst>
                    <a:ext uri="{9D8B030D-6E8A-4147-A177-3AD203B41FA5}">
                      <a16:colId xmlns:a16="http://schemas.microsoft.com/office/drawing/2014/main" val="27218187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 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b="1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Z=0.00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b="1" dirty="0">
                          <a:effectLst/>
                          <a:latin typeface="+mj-lt"/>
                        </a:rPr>
                        <a:t>Z = 0.75</a:t>
                      </a:r>
                      <a:endParaRPr lang="en-CA" sz="16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b="1" dirty="0">
                          <a:effectLst/>
                          <a:latin typeface="+mj-lt"/>
                        </a:rPr>
                        <a:t>Z = 0.80</a:t>
                      </a:r>
                      <a:endParaRPr lang="en-CA" sz="16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b="1" dirty="0">
                          <a:effectLst/>
                          <a:latin typeface="+mj-lt"/>
                        </a:rPr>
                        <a:t>Z = 0.85</a:t>
                      </a:r>
                      <a:endParaRPr lang="en-CA" sz="16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b="1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Z=1.00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98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Accuracy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79.17%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69.96%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57.07%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40.57%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20.83%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930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True Positive Rate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100.00%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76.83%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53.94%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28.74%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0.00%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True Negative Rate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0.00%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43.82%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68.97%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85.53%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100.00%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>
                          <a:effectLst/>
                          <a:latin typeface="+mj-lt"/>
                        </a:rPr>
                        <a:t>False Positive Rate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100.00%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56.18%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31.03%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14.47%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0.00%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598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Precision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79.17%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83.87%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86.86%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88.31%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 err="1">
                          <a:effectLst/>
                          <a:latin typeface="+mj-lt"/>
                          <a:ea typeface="Calibri"/>
                          <a:cs typeface="Times New Roman"/>
                        </a:rPr>
                        <a:t>n.a.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598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US" sz="16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F-score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88.37%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US" sz="16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80.20%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US" sz="16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66.55%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US" sz="160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43.36%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56845" algn="ctr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3838575" algn="l"/>
                        </a:tabLst>
                      </a:pPr>
                      <a:r>
                        <a:rPr lang="en-CA" sz="1600" dirty="0" err="1">
                          <a:effectLst/>
                          <a:latin typeface="+mj-lt"/>
                          <a:ea typeface="Calibri"/>
                          <a:cs typeface="Times New Roman"/>
                        </a:rPr>
                        <a:t>n.a.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0082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984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8547" y="930275"/>
            <a:ext cx="6619876" cy="1143000"/>
          </a:xfrm>
        </p:spPr>
        <p:txBody>
          <a:bodyPr>
            <a:normAutofit fontScale="90000"/>
          </a:bodyPr>
          <a:lstStyle/>
          <a:p>
            <a:r>
              <a:rPr lang="en-CA" sz="2700" dirty="0"/>
              <a:t>As we change the Z criterion we get an ROC curve (receiver operating characteristics) curve,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Business,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18</a:t>
            </a:fld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E964C7-B138-4F1A-9270-EDB135181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474" y="2420888"/>
            <a:ext cx="6651879" cy="36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56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Area Under Curve (AUC)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area under the curve is a popular way of summarizing the predictive ability of a model to estimate a binary variable</a:t>
            </a:r>
          </a:p>
          <a:p>
            <a:r>
              <a:rPr lang="en-CA" dirty="0"/>
              <a:t>When AUC =1 the model is perfect. </a:t>
            </a:r>
          </a:p>
          <a:p>
            <a:r>
              <a:rPr lang="en-CA" dirty="0"/>
              <a:t>When AUC =0.5 the model has no predictive ability</a:t>
            </a:r>
          </a:p>
          <a:p>
            <a:r>
              <a:rPr lang="en-CA" dirty="0"/>
              <a:t>When AUC &lt; 0.5 the model has negative predictive ability</a:t>
            </a:r>
          </a:p>
          <a:p>
            <a:r>
              <a:rPr lang="en-US" dirty="0"/>
              <a:t>For four-feature </a:t>
            </a:r>
            <a:r>
              <a:rPr lang="en-US" dirty="0" err="1"/>
              <a:t>LendingClub</a:t>
            </a:r>
            <a:r>
              <a:rPr lang="en-US" dirty="0"/>
              <a:t> model, AUC = 0.6578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Business,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5390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Statistical Graphics – ROC Chart</a:t>
            </a:r>
          </a:p>
        </p:txBody>
      </p:sp>
      <p:sp>
        <p:nvSpPr>
          <p:cNvPr id="26627" name="Animation Flag"/>
          <p:cNvSpPr txBox="1">
            <a:spLocks noChangeArrowheads="1"/>
          </p:cNvSpPr>
          <p:nvPr/>
        </p:nvSpPr>
        <p:spPr bwMode="auto">
          <a:xfrm>
            <a:off x="8572500" y="6451600"/>
            <a:ext cx="396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000" b="1"/>
              <a:t>...</a:t>
            </a:r>
          </a:p>
        </p:txBody>
      </p:sp>
      <p:grpSp>
        <p:nvGrpSpPr>
          <p:cNvPr id="26628" name="Group 30"/>
          <p:cNvGrpSpPr>
            <a:grpSpLocks/>
          </p:cNvGrpSpPr>
          <p:nvPr/>
        </p:nvGrpSpPr>
        <p:grpSpPr bwMode="auto">
          <a:xfrm>
            <a:off x="4024950" y="2612320"/>
            <a:ext cx="2360922" cy="1751102"/>
            <a:chOff x="774700" y="2433638"/>
            <a:chExt cx="2936875" cy="2549525"/>
          </a:xfrm>
        </p:grpSpPr>
        <p:grpSp>
          <p:nvGrpSpPr>
            <p:cNvPr id="26655" name="Group 40"/>
            <p:cNvGrpSpPr>
              <a:grpSpLocks noChangeAspect="1"/>
            </p:cNvGrpSpPr>
            <p:nvPr/>
          </p:nvGrpSpPr>
          <p:grpSpPr bwMode="auto">
            <a:xfrm>
              <a:off x="774700" y="2433638"/>
              <a:ext cx="2936875" cy="2549525"/>
              <a:chOff x="2541585" y="1490659"/>
              <a:chExt cx="3916086" cy="3399874"/>
            </a:xfrm>
          </p:grpSpPr>
          <p:sp>
            <p:nvSpPr>
              <p:cNvPr id="26658" name="Text Box 59"/>
              <p:cNvSpPr txBox="1">
                <a:spLocks noChangeArrowheads="1"/>
              </p:cNvSpPr>
              <p:nvPr/>
            </p:nvSpPr>
            <p:spPr bwMode="auto">
              <a:xfrm>
                <a:off x="2555879" y="4332290"/>
                <a:ext cx="48132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med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n-US" sz="1200" b="1">
                    <a:solidFill>
                      <a:srgbClr val="B2B2B2"/>
                    </a:solidFill>
                    <a:latin typeface="Arial Narrow" pitchFamily="34" charset="0"/>
                  </a:rPr>
                  <a:t>0.0</a:t>
                </a:r>
              </a:p>
            </p:txBody>
          </p:sp>
          <p:sp>
            <p:nvSpPr>
              <p:cNvPr id="26659" name="Text Box 60"/>
              <p:cNvSpPr txBox="1">
                <a:spLocks noChangeArrowheads="1"/>
              </p:cNvSpPr>
              <p:nvPr/>
            </p:nvSpPr>
            <p:spPr bwMode="auto">
              <a:xfrm>
                <a:off x="2541585" y="1490659"/>
                <a:ext cx="48132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med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n-US" sz="1200" b="1">
                    <a:solidFill>
                      <a:srgbClr val="B2B2B2"/>
                    </a:solidFill>
                    <a:latin typeface="Arial Narrow" pitchFamily="34" charset="0"/>
                  </a:rPr>
                  <a:t>1.0</a:t>
                </a:r>
              </a:p>
            </p:txBody>
          </p:sp>
          <p:grpSp>
            <p:nvGrpSpPr>
              <p:cNvPr id="26660" name="Group 70"/>
              <p:cNvGrpSpPr>
                <a:grpSpLocks/>
              </p:cNvGrpSpPr>
              <p:nvPr/>
            </p:nvGrpSpPr>
            <p:grpSpPr bwMode="auto">
              <a:xfrm>
                <a:off x="2925361" y="1573211"/>
                <a:ext cx="3356673" cy="3033711"/>
                <a:chOff x="432" y="1200"/>
                <a:chExt cx="2496" cy="2256"/>
              </a:xfrm>
            </p:grpSpPr>
            <p:grpSp>
              <p:nvGrpSpPr>
                <p:cNvPr id="26664" name="Group 71"/>
                <p:cNvGrpSpPr>
                  <a:grpSpLocks/>
                </p:cNvGrpSpPr>
                <p:nvPr/>
              </p:nvGrpSpPr>
              <p:grpSpPr bwMode="auto">
                <a:xfrm>
                  <a:off x="432" y="1200"/>
                  <a:ext cx="2496" cy="2256"/>
                  <a:chOff x="336" y="1200"/>
                  <a:chExt cx="2544" cy="2400"/>
                </a:xfrm>
              </p:grpSpPr>
              <p:sp>
                <p:nvSpPr>
                  <p:cNvPr id="26666" name="Rectangle 72"/>
                  <p:cNvSpPr>
                    <a:spLocks noChangeArrowheads="1"/>
                  </p:cNvSpPr>
                  <p:nvPr/>
                </p:nvSpPr>
                <p:spPr bwMode="auto">
                  <a:xfrm>
                    <a:off x="336" y="1200"/>
                    <a:ext cx="2544" cy="480"/>
                  </a:xfrm>
                  <a:prstGeom prst="rect">
                    <a:avLst/>
                  </a:prstGeom>
                  <a:solidFill>
                    <a:srgbClr val="C0C0C0"/>
                  </a:solidFill>
                  <a:ln w="28575">
                    <a:solidFill>
                      <a:srgbClr val="FFFFFF"/>
                    </a:solidFill>
                    <a:miter lim="800000"/>
                    <a:headE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67" name="Rectangle 73"/>
                  <p:cNvSpPr>
                    <a:spLocks noChangeArrowheads="1"/>
                  </p:cNvSpPr>
                  <p:nvPr/>
                </p:nvSpPr>
                <p:spPr bwMode="auto">
                  <a:xfrm>
                    <a:off x="336" y="1680"/>
                    <a:ext cx="2544" cy="480"/>
                  </a:xfrm>
                  <a:prstGeom prst="rect">
                    <a:avLst/>
                  </a:prstGeom>
                  <a:solidFill>
                    <a:srgbClr val="C0C0C0"/>
                  </a:solidFill>
                  <a:ln w="28575">
                    <a:solidFill>
                      <a:srgbClr val="FFFFFF"/>
                    </a:solidFill>
                    <a:miter lim="800000"/>
                    <a:headE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68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336" y="2160"/>
                    <a:ext cx="2544" cy="480"/>
                  </a:xfrm>
                  <a:prstGeom prst="rect">
                    <a:avLst/>
                  </a:prstGeom>
                  <a:solidFill>
                    <a:srgbClr val="C0C0C0"/>
                  </a:solidFill>
                  <a:ln w="28575">
                    <a:solidFill>
                      <a:srgbClr val="FFFFFF"/>
                    </a:solidFill>
                    <a:miter lim="800000"/>
                    <a:headE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69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336" y="2640"/>
                    <a:ext cx="2544" cy="480"/>
                  </a:xfrm>
                  <a:prstGeom prst="rect">
                    <a:avLst/>
                  </a:prstGeom>
                  <a:solidFill>
                    <a:srgbClr val="C0C0C0"/>
                  </a:solidFill>
                  <a:ln w="28575">
                    <a:solidFill>
                      <a:srgbClr val="FFFFFF"/>
                    </a:solidFill>
                    <a:miter lim="800000"/>
                    <a:headE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70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336" y="3120"/>
                    <a:ext cx="2544" cy="480"/>
                  </a:xfrm>
                  <a:prstGeom prst="rect">
                    <a:avLst/>
                  </a:prstGeom>
                  <a:solidFill>
                    <a:srgbClr val="C0C0C0"/>
                  </a:solidFill>
                  <a:ln w="28575">
                    <a:solidFill>
                      <a:srgbClr val="FFFFFF"/>
                    </a:solidFill>
                    <a:miter lim="800000"/>
                    <a:headE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6665" name="Line 78"/>
                <p:cNvSpPr>
                  <a:spLocks noChangeShapeType="1"/>
                </p:cNvSpPr>
                <p:nvPr/>
              </p:nvSpPr>
              <p:spPr bwMode="auto">
                <a:xfrm flipV="1">
                  <a:off x="480" y="1248"/>
                  <a:ext cx="2400" cy="2160"/>
                </a:xfrm>
                <a:prstGeom prst="line">
                  <a:avLst/>
                </a:prstGeom>
                <a:noFill/>
                <a:ln w="28575">
                  <a:solidFill>
                    <a:srgbClr val="DDDDDD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6661" name="Text Box 61"/>
              <p:cNvSpPr txBox="1">
                <a:spLocks noChangeArrowheads="1"/>
              </p:cNvSpPr>
              <p:nvPr/>
            </p:nvSpPr>
            <p:spPr bwMode="auto">
              <a:xfrm>
                <a:off x="2786634" y="4521201"/>
                <a:ext cx="48132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med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r"/>
                <a:r>
                  <a:rPr lang="en-US" sz="1200" b="1">
                    <a:solidFill>
                      <a:srgbClr val="B2B2B2"/>
                    </a:solidFill>
                    <a:latin typeface="Arial Narrow" pitchFamily="34" charset="0"/>
                  </a:rPr>
                  <a:t>0.0</a:t>
                </a:r>
              </a:p>
            </p:txBody>
          </p:sp>
          <p:sp>
            <p:nvSpPr>
              <p:cNvPr id="26662" name="Text Box 62"/>
              <p:cNvSpPr txBox="1">
                <a:spLocks noChangeArrowheads="1"/>
              </p:cNvSpPr>
              <p:nvPr/>
            </p:nvSpPr>
            <p:spPr bwMode="auto">
              <a:xfrm>
                <a:off x="5976343" y="4521201"/>
                <a:ext cx="48132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med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n-US" sz="1200" b="1">
                    <a:solidFill>
                      <a:srgbClr val="B2B2B2"/>
                    </a:solidFill>
                    <a:latin typeface="Arial Narrow" pitchFamily="34" charset="0"/>
                  </a:rPr>
                  <a:t>1.0</a:t>
                </a:r>
              </a:p>
            </p:txBody>
          </p:sp>
          <p:sp>
            <p:nvSpPr>
              <p:cNvPr id="26663" name="Line 131"/>
              <p:cNvSpPr>
                <a:spLocks noChangeShapeType="1"/>
              </p:cNvSpPr>
              <p:nvPr/>
            </p:nvSpPr>
            <p:spPr bwMode="auto">
              <a:xfrm flipV="1">
                <a:off x="2992036" y="1633636"/>
                <a:ext cx="3227490" cy="2904529"/>
              </a:xfrm>
              <a:prstGeom prst="line">
                <a:avLst/>
              </a:prstGeom>
              <a:noFill/>
              <a:ln w="28575">
                <a:solidFill>
                  <a:srgbClr val="DDDDDD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656" name="Freeform 39"/>
            <p:cNvSpPr>
              <a:spLocks noChangeArrowheads="1"/>
            </p:cNvSpPr>
            <p:nvPr/>
          </p:nvSpPr>
          <p:spPr bwMode="auto">
            <a:xfrm>
              <a:off x="1663700" y="2559050"/>
              <a:ext cx="1841500" cy="1187450"/>
            </a:xfrm>
            <a:custGeom>
              <a:avLst/>
              <a:gdLst>
                <a:gd name="T0" fmla="*/ 1841500 w 1841500"/>
                <a:gd name="T1" fmla="*/ 0 h 1187450"/>
                <a:gd name="T2" fmla="*/ 1250950 w 1841500"/>
                <a:gd name="T3" fmla="*/ 273050 h 1187450"/>
                <a:gd name="T4" fmla="*/ 914400 w 1841500"/>
                <a:gd name="T5" fmla="*/ 469900 h 1187450"/>
                <a:gd name="T6" fmla="*/ 584200 w 1841500"/>
                <a:gd name="T7" fmla="*/ 692150 h 1187450"/>
                <a:gd name="T8" fmla="*/ 196850 w 1841500"/>
                <a:gd name="T9" fmla="*/ 1009650 h 1187450"/>
                <a:gd name="T10" fmla="*/ 0 w 1841500"/>
                <a:gd name="T11" fmla="*/ 1187450 h 11874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41500"/>
                <a:gd name="T19" fmla="*/ 0 h 1187450"/>
                <a:gd name="T20" fmla="*/ 1841500 w 1841500"/>
                <a:gd name="T21" fmla="*/ 1187450 h 118745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41500" h="1187450">
                  <a:moveTo>
                    <a:pt x="1841500" y="0"/>
                  </a:moveTo>
                  <a:cubicBezTo>
                    <a:pt x="1623483" y="97366"/>
                    <a:pt x="1405467" y="194733"/>
                    <a:pt x="1250950" y="273050"/>
                  </a:cubicBezTo>
                  <a:cubicBezTo>
                    <a:pt x="1096433" y="351367"/>
                    <a:pt x="1025525" y="400050"/>
                    <a:pt x="914400" y="469900"/>
                  </a:cubicBezTo>
                  <a:cubicBezTo>
                    <a:pt x="803275" y="539750"/>
                    <a:pt x="703792" y="602192"/>
                    <a:pt x="584200" y="692150"/>
                  </a:cubicBezTo>
                  <a:cubicBezTo>
                    <a:pt x="464608" y="782108"/>
                    <a:pt x="294217" y="927100"/>
                    <a:pt x="196850" y="1009650"/>
                  </a:cubicBezTo>
                  <a:cubicBezTo>
                    <a:pt x="99483" y="1092200"/>
                    <a:pt x="49741" y="1139825"/>
                    <a:pt x="0" y="1187450"/>
                  </a:cubicBezTo>
                </a:path>
              </a:pathLst>
            </a:custGeom>
            <a:noFill/>
            <a:ln w="38100" algn="ctr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7" name="Freeform 40"/>
            <p:cNvSpPr>
              <a:spLocks noChangeArrowheads="1"/>
            </p:cNvSpPr>
            <p:nvPr/>
          </p:nvSpPr>
          <p:spPr bwMode="auto">
            <a:xfrm>
              <a:off x="1117600" y="3746500"/>
              <a:ext cx="546100" cy="965200"/>
            </a:xfrm>
            <a:custGeom>
              <a:avLst/>
              <a:gdLst>
                <a:gd name="T0" fmla="*/ 0 w 546100"/>
                <a:gd name="T1" fmla="*/ 965200 h 965200"/>
                <a:gd name="T2" fmla="*/ 57150 w 546100"/>
                <a:gd name="T3" fmla="*/ 781050 h 965200"/>
                <a:gd name="T4" fmla="*/ 165100 w 546100"/>
                <a:gd name="T5" fmla="*/ 514350 h 965200"/>
                <a:gd name="T6" fmla="*/ 304800 w 546100"/>
                <a:gd name="T7" fmla="*/ 273050 h 965200"/>
                <a:gd name="T8" fmla="*/ 546100 w 546100"/>
                <a:gd name="T9" fmla="*/ 0 h 965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965200"/>
                <a:gd name="T17" fmla="*/ 546100 w 546100"/>
                <a:gd name="T18" fmla="*/ 965200 h 965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965200">
                  <a:moveTo>
                    <a:pt x="0" y="965200"/>
                  </a:moveTo>
                  <a:cubicBezTo>
                    <a:pt x="14816" y="910696"/>
                    <a:pt x="29633" y="856192"/>
                    <a:pt x="57150" y="781050"/>
                  </a:cubicBezTo>
                  <a:cubicBezTo>
                    <a:pt x="84667" y="705908"/>
                    <a:pt x="123825" y="599017"/>
                    <a:pt x="165100" y="514350"/>
                  </a:cubicBezTo>
                  <a:cubicBezTo>
                    <a:pt x="206375" y="429683"/>
                    <a:pt x="241300" y="358775"/>
                    <a:pt x="304800" y="273050"/>
                  </a:cubicBezTo>
                  <a:cubicBezTo>
                    <a:pt x="368300" y="187325"/>
                    <a:pt x="457200" y="93662"/>
                    <a:pt x="546100" y="0"/>
                  </a:cubicBezTo>
                </a:path>
              </a:pathLst>
            </a:custGeom>
            <a:noFill/>
            <a:ln w="38100" algn="ctr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74"/>
          <p:cNvGrpSpPr>
            <a:grpSpLocks/>
          </p:cNvGrpSpPr>
          <p:nvPr/>
        </p:nvGrpSpPr>
        <p:grpSpPr bwMode="auto">
          <a:xfrm>
            <a:off x="1903668" y="2674477"/>
            <a:ext cx="2024012" cy="1561381"/>
            <a:chOff x="1062516" y="2495544"/>
            <a:chExt cx="2517345" cy="2273938"/>
          </a:xfrm>
        </p:grpSpPr>
        <p:grpSp>
          <p:nvGrpSpPr>
            <p:cNvPr id="26644" name="Group 40"/>
            <p:cNvGrpSpPr>
              <a:grpSpLocks noChangeAspect="1"/>
            </p:cNvGrpSpPr>
            <p:nvPr/>
          </p:nvGrpSpPr>
          <p:grpSpPr bwMode="auto">
            <a:xfrm>
              <a:off x="1062516" y="2495544"/>
              <a:ext cx="2517345" cy="2273938"/>
              <a:chOff x="2925361" y="1573211"/>
              <a:chExt cx="3356673" cy="3032366"/>
            </a:xfrm>
          </p:grpSpPr>
          <p:grpSp>
            <p:nvGrpSpPr>
              <p:cNvPr id="26646" name="Group 70"/>
              <p:cNvGrpSpPr>
                <a:grpSpLocks/>
              </p:cNvGrpSpPr>
              <p:nvPr/>
            </p:nvGrpSpPr>
            <p:grpSpPr bwMode="auto">
              <a:xfrm>
                <a:off x="2925361" y="1573211"/>
                <a:ext cx="3356673" cy="3032366"/>
                <a:chOff x="432" y="1200"/>
                <a:chExt cx="2496" cy="2255"/>
              </a:xfrm>
            </p:grpSpPr>
            <p:grpSp>
              <p:nvGrpSpPr>
                <p:cNvPr id="26648" name="Group 71"/>
                <p:cNvGrpSpPr>
                  <a:grpSpLocks/>
                </p:cNvGrpSpPr>
                <p:nvPr/>
              </p:nvGrpSpPr>
              <p:grpSpPr bwMode="auto">
                <a:xfrm>
                  <a:off x="432" y="1200"/>
                  <a:ext cx="2496" cy="2255"/>
                  <a:chOff x="336" y="1200"/>
                  <a:chExt cx="2544" cy="2400"/>
                </a:xfrm>
              </p:grpSpPr>
              <p:sp>
                <p:nvSpPr>
                  <p:cNvPr id="26650" name="Rectangle 72"/>
                  <p:cNvSpPr>
                    <a:spLocks noChangeArrowheads="1"/>
                  </p:cNvSpPr>
                  <p:nvPr/>
                </p:nvSpPr>
                <p:spPr bwMode="auto">
                  <a:xfrm>
                    <a:off x="336" y="1200"/>
                    <a:ext cx="2544" cy="480"/>
                  </a:xfrm>
                  <a:prstGeom prst="rect">
                    <a:avLst/>
                  </a:prstGeom>
                  <a:solidFill>
                    <a:srgbClr val="C0C0C0"/>
                  </a:solidFill>
                  <a:ln w="28575">
                    <a:solidFill>
                      <a:srgbClr val="FFFFFF"/>
                    </a:solidFill>
                    <a:miter lim="800000"/>
                    <a:headE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51" name="Rectangle 73"/>
                  <p:cNvSpPr>
                    <a:spLocks noChangeArrowheads="1"/>
                  </p:cNvSpPr>
                  <p:nvPr/>
                </p:nvSpPr>
                <p:spPr bwMode="auto">
                  <a:xfrm>
                    <a:off x="336" y="1680"/>
                    <a:ext cx="2544" cy="480"/>
                  </a:xfrm>
                  <a:prstGeom prst="rect">
                    <a:avLst/>
                  </a:prstGeom>
                  <a:solidFill>
                    <a:srgbClr val="C0C0C0"/>
                  </a:solidFill>
                  <a:ln w="28575">
                    <a:solidFill>
                      <a:srgbClr val="FFFFFF"/>
                    </a:solidFill>
                    <a:miter lim="800000"/>
                    <a:headE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52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336" y="2160"/>
                    <a:ext cx="2544" cy="480"/>
                  </a:xfrm>
                  <a:prstGeom prst="rect">
                    <a:avLst/>
                  </a:prstGeom>
                  <a:solidFill>
                    <a:srgbClr val="C0C0C0"/>
                  </a:solidFill>
                  <a:ln w="28575">
                    <a:solidFill>
                      <a:srgbClr val="FFFFFF"/>
                    </a:solidFill>
                    <a:miter lim="800000"/>
                    <a:headE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53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336" y="2640"/>
                    <a:ext cx="2544" cy="480"/>
                  </a:xfrm>
                  <a:prstGeom prst="rect">
                    <a:avLst/>
                  </a:prstGeom>
                  <a:solidFill>
                    <a:srgbClr val="C0C0C0"/>
                  </a:solidFill>
                  <a:ln w="28575">
                    <a:solidFill>
                      <a:srgbClr val="FFFFFF"/>
                    </a:solidFill>
                    <a:miter lim="800000"/>
                    <a:headE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54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336" y="3120"/>
                    <a:ext cx="2544" cy="480"/>
                  </a:xfrm>
                  <a:prstGeom prst="rect">
                    <a:avLst/>
                  </a:prstGeom>
                  <a:solidFill>
                    <a:srgbClr val="C0C0C0"/>
                  </a:solidFill>
                  <a:ln w="28575">
                    <a:solidFill>
                      <a:srgbClr val="FFFFFF"/>
                    </a:solidFill>
                    <a:miter lim="800000"/>
                    <a:headE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6649" name="Line 78"/>
                <p:cNvSpPr>
                  <a:spLocks noChangeShapeType="1"/>
                </p:cNvSpPr>
                <p:nvPr/>
              </p:nvSpPr>
              <p:spPr bwMode="auto">
                <a:xfrm flipV="1">
                  <a:off x="480" y="1248"/>
                  <a:ext cx="2400" cy="2160"/>
                </a:xfrm>
                <a:prstGeom prst="line">
                  <a:avLst/>
                </a:prstGeom>
                <a:noFill/>
                <a:ln w="28575">
                  <a:solidFill>
                    <a:srgbClr val="DDDDDD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6647" name="Line 131"/>
              <p:cNvSpPr>
                <a:spLocks noChangeShapeType="1"/>
              </p:cNvSpPr>
              <p:nvPr/>
            </p:nvSpPr>
            <p:spPr bwMode="auto">
              <a:xfrm flipV="1">
                <a:off x="2992036" y="1633636"/>
                <a:ext cx="3227490" cy="2904529"/>
              </a:xfrm>
              <a:prstGeom prst="line">
                <a:avLst/>
              </a:prstGeom>
              <a:noFill/>
              <a:ln w="28575">
                <a:solidFill>
                  <a:srgbClr val="DDDDDD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645" name="Freeform 76"/>
            <p:cNvSpPr>
              <a:spLocks noChangeArrowheads="1"/>
            </p:cNvSpPr>
            <p:nvPr/>
          </p:nvSpPr>
          <p:spPr bwMode="auto">
            <a:xfrm>
              <a:off x="1085850" y="2559050"/>
              <a:ext cx="2419350" cy="2165350"/>
            </a:xfrm>
            <a:custGeom>
              <a:avLst/>
              <a:gdLst>
                <a:gd name="T0" fmla="*/ 2147483647 w 1841500"/>
                <a:gd name="T1" fmla="*/ 0 h 1187450"/>
                <a:gd name="T2" fmla="*/ 2147483647 w 1841500"/>
                <a:gd name="T3" fmla="*/ 2147483647 h 1187450"/>
                <a:gd name="T4" fmla="*/ 0 w 1841500"/>
                <a:gd name="T5" fmla="*/ 2147483647 h 1187450"/>
                <a:gd name="T6" fmla="*/ 0 60000 65536"/>
                <a:gd name="T7" fmla="*/ 0 60000 65536"/>
                <a:gd name="T8" fmla="*/ 0 60000 65536"/>
                <a:gd name="T9" fmla="*/ 0 w 1841500"/>
                <a:gd name="T10" fmla="*/ 0 h 1187450"/>
                <a:gd name="T11" fmla="*/ 1841500 w 1841500"/>
                <a:gd name="T12" fmla="*/ 1187450 h 11874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41500" h="1187450">
                  <a:moveTo>
                    <a:pt x="1841500" y="0"/>
                  </a:moveTo>
                  <a:cubicBezTo>
                    <a:pt x="1648354" y="97896"/>
                    <a:pt x="1153524" y="343627"/>
                    <a:pt x="846607" y="541535"/>
                  </a:cubicBezTo>
                  <a:cubicBezTo>
                    <a:pt x="539690" y="739443"/>
                    <a:pt x="190500" y="1037961"/>
                    <a:pt x="0" y="1187450"/>
                  </a:cubicBezTo>
                </a:path>
              </a:pathLst>
            </a:custGeom>
            <a:noFill/>
            <a:ln w="38100" algn="ctr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2"/>
          <p:cNvGrpSpPr>
            <a:grpSpLocks/>
          </p:cNvGrpSpPr>
          <p:nvPr/>
        </p:nvGrpSpPr>
        <p:grpSpPr bwMode="auto">
          <a:xfrm>
            <a:off x="6586854" y="2674477"/>
            <a:ext cx="2024012" cy="1561381"/>
            <a:chOff x="1062516" y="2495544"/>
            <a:chExt cx="2517345" cy="2273938"/>
          </a:xfrm>
        </p:grpSpPr>
        <p:grpSp>
          <p:nvGrpSpPr>
            <p:cNvPr id="26633" name="Group 40"/>
            <p:cNvGrpSpPr>
              <a:grpSpLocks noChangeAspect="1"/>
            </p:cNvGrpSpPr>
            <p:nvPr/>
          </p:nvGrpSpPr>
          <p:grpSpPr bwMode="auto">
            <a:xfrm>
              <a:off x="1062516" y="2495544"/>
              <a:ext cx="2517345" cy="2273938"/>
              <a:chOff x="2925361" y="1573211"/>
              <a:chExt cx="3356673" cy="3032366"/>
            </a:xfrm>
          </p:grpSpPr>
          <p:grpSp>
            <p:nvGrpSpPr>
              <p:cNvPr id="26635" name="Group 70"/>
              <p:cNvGrpSpPr>
                <a:grpSpLocks/>
              </p:cNvGrpSpPr>
              <p:nvPr/>
            </p:nvGrpSpPr>
            <p:grpSpPr bwMode="auto">
              <a:xfrm>
                <a:off x="2925361" y="1573211"/>
                <a:ext cx="3356673" cy="3032366"/>
                <a:chOff x="432" y="1200"/>
                <a:chExt cx="2496" cy="2255"/>
              </a:xfrm>
            </p:grpSpPr>
            <p:grpSp>
              <p:nvGrpSpPr>
                <p:cNvPr id="26637" name="Group 71"/>
                <p:cNvGrpSpPr>
                  <a:grpSpLocks/>
                </p:cNvGrpSpPr>
                <p:nvPr/>
              </p:nvGrpSpPr>
              <p:grpSpPr bwMode="auto">
                <a:xfrm>
                  <a:off x="432" y="1200"/>
                  <a:ext cx="2496" cy="2255"/>
                  <a:chOff x="336" y="1200"/>
                  <a:chExt cx="2544" cy="2400"/>
                </a:xfrm>
              </p:grpSpPr>
              <p:sp>
                <p:nvSpPr>
                  <p:cNvPr id="26639" name="Rectangle 72"/>
                  <p:cNvSpPr>
                    <a:spLocks noChangeArrowheads="1"/>
                  </p:cNvSpPr>
                  <p:nvPr/>
                </p:nvSpPr>
                <p:spPr bwMode="auto">
                  <a:xfrm>
                    <a:off x="336" y="1200"/>
                    <a:ext cx="2544" cy="480"/>
                  </a:xfrm>
                  <a:prstGeom prst="rect">
                    <a:avLst/>
                  </a:prstGeom>
                  <a:solidFill>
                    <a:srgbClr val="C0C0C0"/>
                  </a:solidFill>
                  <a:ln w="28575">
                    <a:solidFill>
                      <a:srgbClr val="FFFFFF"/>
                    </a:solidFill>
                    <a:miter lim="800000"/>
                    <a:headE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40" name="Rectangle 73"/>
                  <p:cNvSpPr>
                    <a:spLocks noChangeArrowheads="1"/>
                  </p:cNvSpPr>
                  <p:nvPr/>
                </p:nvSpPr>
                <p:spPr bwMode="auto">
                  <a:xfrm>
                    <a:off x="336" y="1680"/>
                    <a:ext cx="2544" cy="480"/>
                  </a:xfrm>
                  <a:prstGeom prst="rect">
                    <a:avLst/>
                  </a:prstGeom>
                  <a:solidFill>
                    <a:srgbClr val="C0C0C0"/>
                  </a:solidFill>
                  <a:ln w="28575">
                    <a:solidFill>
                      <a:srgbClr val="FFFFFF"/>
                    </a:solidFill>
                    <a:miter lim="800000"/>
                    <a:headE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41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336" y="2160"/>
                    <a:ext cx="2544" cy="480"/>
                  </a:xfrm>
                  <a:prstGeom prst="rect">
                    <a:avLst/>
                  </a:prstGeom>
                  <a:solidFill>
                    <a:srgbClr val="C0C0C0"/>
                  </a:solidFill>
                  <a:ln w="28575">
                    <a:solidFill>
                      <a:srgbClr val="FFFFFF"/>
                    </a:solidFill>
                    <a:miter lim="800000"/>
                    <a:headE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42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336" y="2640"/>
                    <a:ext cx="2544" cy="480"/>
                  </a:xfrm>
                  <a:prstGeom prst="rect">
                    <a:avLst/>
                  </a:prstGeom>
                  <a:solidFill>
                    <a:srgbClr val="C0C0C0"/>
                  </a:solidFill>
                  <a:ln w="28575">
                    <a:solidFill>
                      <a:srgbClr val="FFFFFF"/>
                    </a:solidFill>
                    <a:miter lim="800000"/>
                    <a:headE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43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336" y="3120"/>
                    <a:ext cx="2544" cy="480"/>
                  </a:xfrm>
                  <a:prstGeom prst="rect">
                    <a:avLst/>
                  </a:prstGeom>
                  <a:solidFill>
                    <a:srgbClr val="C0C0C0"/>
                  </a:solidFill>
                  <a:ln w="28575">
                    <a:solidFill>
                      <a:srgbClr val="FFFFFF"/>
                    </a:solidFill>
                    <a:miter lim="800000"/>
                    <a:headEnd/>
                    <a:tailEnd type="none" w="med" len="lg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6638" name="Line 78"/>
                <p:cNvSpPr>
                  <a:spLocks noChangeShapeType="1"/>
                </p:cNvSpPr>
                <p:nvPr/>
              </p:nvSpPr>
              <p:spPr bwMode="auto">
                <a:xfrm flipV="1">
                  <a:off x="480" y="1248"/>
                  <a:ext cx="2400" cy="2160"/>
                </a:xfrm>
                <a:prstGeom prst="line">
                  <a:avLst/>
                </a:prstGeom>
                <a:noFill/>
                <a:ln w="28575">
                  <a:solidFill>
                    <a:srgbClr val="DDDDDD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6636" name="Line 131"/>
              <p:cNvSpPr>
                <a:spLocks noChangeShapeType="1"/>
              </p:cNvSpPr>
              <p:nvPr/>
            </p:nvSpPr>
            <p:spPr bwMode="auto">
              <a:xfrm flipV="1">
                <a:off x="2992036" y="1633636"/>
                <a:ext cx="3227490" cy="2904529"/>
              </a:xfrm>
              <a:prstGeom prst="line">
                <a:avLst/>
              </a:prstGeom>
              <a:noFill/>
              <a:ln w="28575">
                <a:solidFill>
                  <a:srgbClr val="DDDDDD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634" name="Freeform 94"/>
            <p:cNvSpPr>
              <a:spLocks noChangeArrowheads="1"/>
            </p:cNvSpPr>
            <p:nvPr/>
          </p:nvSpPr>
          <p:spPr bwMode="auto">
            <a:xfrm>
              <a:off x="1123381" y="2559050"/>
              <a:ext cx="2381819" cy="2135780"/>
            </a:xfrm>
            <a:custGeom>
              <a:avLst/>
              <a:gdLst>
                <a:gd name="T0" fmla="*/ 2147483647 w 1841500"/>
                <a:gd name="T1" fmla="*/ 0 h 1187450"/>
                <a:gd name="T2" fmla="*/ 2147483647 w 1841500"/>
                <a:gd name="T3" fmla="*/ 2147483647 h 1187450"/>
                <a:gd name="T4" fmla="*/ 0 w 1841500"/>
                <a:gd name="T5" fmla="*/ 2147483647 h 1187450"/>
                <a:gd name="T6" fmla="*/ 0 60000 65536"/>
                <a:gd name="T7" fmla="*/ 0 60000 65536"/>
                <a:gd name="T8" fmla="*/ 0 60000 65536"/>
                <a:gd name="T9" fmla="*/ 0 w 1841500"/>
                <a:gd name="T10" fmla="*/ 0 h 1187450"/>
                <a:gd name="T11" fmla="*/ 1841500 w 1841500"/>
                <a:gd name="T12" fmla="*/ 1187450 h 11874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41500" h="1187450">
                  <a:moveTo>
                    <a:pt x="1841500" y="0"/>
                  </a:moveTo>
                  <a:cubicBezTo>
                    <a:pt x="1495150" y="18998"/>
                    <a:pt x="822531" y="7892"/>
                    <a:pt x="420648" y="281679"/>
                  </a:cubicBezTo>
                  <a:cubicBezTo>
                    <a:pt x="183835" y="427828"/>
                    <a:pt x="26743" y="1065294"/>
                    <a:pt x="0" y="1187450"/>
                  </a:cubicBezTo>
                </a:path>
              </a:pathLst>
            </a:custGeom>
            <a:noFill/>
            <a:ln w="38100" algn="ctr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1" name="Rectangle 58"/>
          <p:cNvSpPr>
            <a:spLocks noChangeArrowheads="1"/>
          </p:cNvSpPr>
          <p:nvPr/>
        </p:nvSpPr>
        <p:spPr bwMode="auto">
          <a:xfrm>
            <a:off x="1920427" y="4363422"/>
            <a:ext cx="19755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Arial Narrow" pitchFamily="34" charset="0"/>
              </a:rPr>
              <a:t>weak model</a:t>
            </a:r>
          </a:p>
        </p:txBody>
      </p:sp>
      <p:sp>
        <p:nvSpPr>
          <p:cNvPr id="112" name="Rectangle 58"/>
          <p:cNvSpPr>
            <a:spLocks noChangeArrowheads="1"/>
          </p:cNvSpPr>
          <p:nvPr/>
        </p:nvSpPr>
        <p:spPr bwMode="auto">
          <a:xfrm>
            <a:off x="7033840" y="4502184"/>
            <a:ext cx="19755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Arial Narrow" pitchFamily="34" charset="0"/>
              </a:rPr>
              <a:t>strong model</a:t>
            </a:r>
          </a:p>
        </p:txBody>
      </p:sp>
    </p:spTree>
    <p:extLst>
      <p:ext uri="{BB962C8B-B14F-4D97-AF65-F5344CB8AC3E}">
        <p14:creationId xmlns:p14="http://schemas.microsoft.com/office/powerpoint/2010/main" val="30642502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Statistical Graphics – AUC</a:t>
            </a:r>
          </a:p>
        </p:txBody>
      </p:sp>
      <p:sp>
        <p:nvSpPr>
          <p:cNvPr id="27651" name="Animation Flag"/>
          <p:cNvSpPr txBox="1">
            <a:spLocks noChangeArrowheads="1"/>
          </p:cNvSpPr>
          <p:nvPr/>
        </p:nvSpPr>
        <p:spPr bwMode="auto">
          <a:xfrm>
            <a:off x="8572500" y="6451600"/>
            <a:ext cx="396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000" b="1"/>
              <a:t>...</a:t>
            </a:r>
          </a:p>
        </p:txBody>
      </p:sp>
      <p:sp>
        <p:nvSpPr>
          <p:cNvPr id="27655" name="Rectangle 58"/>
          <p:cNvSpPr>
            <a:spLocks noChangeArrowheads="1"/>
          </p:cNvSpPr>
          <p:nvPr/>
        </p:nvSpPr>
        <p:spPr bwMode="auto">
          <a:xfrm>
            <a:off x="1567015" y="4737838"/>
            <a:ext cx="24574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Arial Narrow" pitchFamily="34" charset="0"/>
              </a:rPr>
              <a:t>weak model</a:t>
            </a:r>
          </a:p>
          <a:p>
            <a:pPr algn="ctr"/>
            <a:r>
              <a:rPr lang="en-US" sz="2000" b="1" dirty="0">
                <a:solidFill>
                  <a:schemeClr val="tx2"/>
                </a:solidFill>
                <a:latin typeface="Arial Narrow" pitchFamily="34" charset="0"/>
              </a:rPr>
              <a:t>AUC &lt; 0.6</a:t>
            </a:r>
          </a:p>
        </p:txBody>
      </p:sp>
      <p:sp>
        <p:nvSpPr>
          <p:cNvPr id="27656" name="Rectangle 58"/>
          <p:cNvSpPr>
            <a:spLocks noChangeArrowheads="1"/>
          </p:cNvSpPr>
          <p:nvPr/>
        </p:nvSpPr>
        <p:spPr bwMode="auto">
          <a:xfrm>
            <a:off x="6423450" y="4585127"/>
            <a:ext cx="24574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Arial Narrow" pitchFamily="34" charset="0"/>
              </a:rPr>
              <a:t>strong model</a:t>
            </a:r>
          </a:p>
          <a:p>
            <a:pPr algn="ctr"/>
            <a:r>
              <a:rPr lang="en-US" sz="2000" b="1" dirty="0">
                <a:solidFill>
                  <a:schemeClr val="tx2"/>
                </a:solidFill>
                <a:latin typeface="Arial Narrow" pitchFamily="34" charset="0"/>
              </a:rPr>
              <a:t>AUC &gt; 0.7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5219B6-48BE-0E7F-4734-8D1EB648C648}"/>
              </a:ext>
            </a:extLst>
          </p:cNvPr>
          <p:cNvGrpSpPr/>
          <p:nvPr/>
        </p:nvGrpSpPr>
        <p:grpSpPr>
          <a:xfrm>
            <a:off x="1765998" y="2743260"/>
            <a:ext cx="7232929" cy="1953145"/>
            <a:chOff x="528638" y="1143000"/>
            <a:chExt cx="8137525" cy="2549525"/>
          </a:xfrm>
        </p:grpSpPr>
        <p:grpSp>
          <p:nvGrpSpPr>
            <p:cNvPr id="27652" name="Group 40"/>
            <p:cNvGrpSpPr>
              <a:grpSpLocks noChangeAspect="1"/>
            </p:cNvGrpSpPr>
            <p:nvPr/>
          </p:nvGrpSpPr>
          <p:grpSpPr bwMode="auto">
            <a:xfrm>
              <a:off x="3060700" y="1143000"/>
              <a:ext cx="2936875" cy="2549525"/>
              <a:chOff x="2541585" y="1490659"/>
              <a:chExt cx="3916086" cy="3399874"/>
            </a:xfrm>
          </p:grpSpPr>
          <p:sp>
            <p:nvSpPr>
              <p:cNvPr id="27673" name="Text Box 59"/>
              <p:cNvSpPr txBox="1">
                <a:spLocks noChangeArrowheads="1"/>
              </p:cNvSpPr>
              <p:nvPr/>
            </p:nvSpPr>
            <p:spPr bwMode="auto">
              <a:xfrm>
                <a:off x="2555879" y="4332290"/>
                <a:ext cx="48132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med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n-US" sz="1200" b="1">
                    <a:solidFill>
                      <a:srgbClr val="B2B2B2"/>
                    </a:solidFill>
                    <a:latin typeface="Arial Narrow" pitchFamily="34" charset="0"/>
                  </a:rPr>
                  <a:t>0.0</a:t>
                </a:r>
              </a:p>
            </p:txBody>
          </p:sp>
          <p:sp>
            <p:nvSpPr>
              <p:cNvPr id="27674" name="Text Box 60"/>
              <p:cNvSpPr txBox="1">
                <a:spLocks noChangeArrowheads="1"/>
              </p:cNvSpPr>
              <p:nvPr/>
            </p:nvSpPr>
            <p:spPr bwMode="auto">
              <a:xfrm>
                <a:off x="2541585" y="1490659"/>
                <a:ext cx="48132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med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n-US" sz="1200" b="1">
                    <a:solidFill>
                      <a:srgbClr val="B2B2B2"/>
                    </a:solidFill>
                    <a:latin typeface="Arial Narrow" pitchFamily="34" charset="0"/>
                  </a:rPr>
                  <a:t>1.0</a:t>
                </a:r>
              </a:p>
            </p:txBody>
          </p:sp>
          <p:grpSp>
            <p:nvGrpSpPr>
              <p:cNvPr id="27675" name="Group 71"/>
              <p:cNvGrpSpPr>
                <a:grpSpLocks/>
              </p:cNvGrpSpPr>
              <p:nvPr/>
            </p:nvGrpSpPr>
            <p:grpSpPr bwMode="auto">
              <a:xfrm>
                <a:off x="2925360" y="1573211"/>
                <a:ext cx="3356673" cy="3033711"/>
                <a:chOff x="336" y="1200"/>
                <a:chExt cx="2544" cy="2400"/>
              </a:xfrm>
            </p:grpSpPr>
            <p:sp>
              <p:nvSpPr>
                <p:cNvPr id="27678" name="Rectangle 72"/>
                <p:cNvSpPr>
                  <a:spLocks noChangeArrowheads="1"/>
                </p:cNvSpPr>
                <p:nvPr/>
              </p:nvSpPr>
              <p:spPr bwMode="auto">
                <a:xfrm>
                  <a:off x="336" y="1200"/>
                  <a:ext cx="2544" cy="480"/>
                </a:xfrm>
                <a:prstGeom prst="rect">
                  <a:avLst/>
                </a:prstGeom>
                <a:solidFill>
                  <a:srgbClr val="C0C0C0"/>
                </a:solidFill>
                <a:ln w="28575">
                  <a:solidFill>
                    <a:srgbClr val="FFFFFF"/>
                  </a:solidFill>
                  <a:miter lim="800000"/>
                  <a:headEnd/>
                  <a:tailEnd type="none" w="med" len="lg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679" name="Rectangle 73"/>
                <p:cNvSpPr>
                  <a:spLocks noChangeArrowheads="1"/>
                </p:cNvSpPr>
                <p:nvPr/>
              </p:nvSpPr>
              <p:spPr bwMode="auto">
                <a:xfrm>
                  <a:off x="336" y="1680"/>
                  <a:ext cx="2544" cy="480"/>
                </a:xfrm>
                <a:prstGeom prst="rect">
                  <a:avLst/>
                </a:prstGeom>
                <a:solidFill>
                  <a:srgbClr val="C0C0C0"/>
                </a:solidFill>
                <a:ln w="28575">
                  <a:solidFill>
                    <a:srgbClr val="FFFFFF"/>
                  </a:solidFill>
                  <a:miter lim="800000"/>
                  <a:headEnd/>
                  <a:tailEnd type="none" w="med" len="lg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680" name="Rectangle 74"/>
                <p:cNvSpPr>
                  <a:spLocks noChangeArrowheads="1"/>
                </p:cNvSpPr>
                <p:nvPr/>
              </p:nvSpPr>
              <p:spPr bwMode="auto">
                <a:xfrm>
                  <a:off x="336" y="2160"/>
                  <a:ext cx="2544" cy="480"/>
                </a:xfrm>
                <a:prstGeom prst="rect">
                  <a:avLst/>
                </a:prstGeom>
                <a:solidFill>
                  <a:srgbClr val="C0C0C0"/>
                </a:solidFill>
                <a:ln w="28575">
                  <a:solidFill>
                    <a:srgbClr val="FFFFFF"/>
                  </a:solidFill>
                  <a:miter lim="800000"/>
                  <a:headEnd/>
                  <a:tailEnd type="none" w="med" len="lg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681" name="Rectangle 75"/>
                <p:cNvSpPr>
                  <a:spLocks noChangeArrowheads="1"/>
                </p:cNvSpPr>
                <p:nvPr/>
              </p:nvSpPr>
              <p:spPr bwMode="auto">
                <a:xfrm>
                  <a:off x="336" y="2640"/>
                  <a:ext cx="2544" cy="480"/>
                </a:xfrm>
                <a:prstGeom prst="rect">
                  <a:avLst/>
                </a:prstGeom>
                <a:solidFill>
                  <a:srgbClr val="C0C0C0"/>
                </a:solidFill>
                <a:ln w="28575">
                  <a:solidFill>
                    <a:srgbClr val="FFFFFF"/>
                  </a:solidFill>
                  <a:miter lim="800000"/>
                  <a:headEnd/>
                  <a:tailEnd type="none" w="med" len="lg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682" name="Rectangle 76"/>
                <p:cNvSpPr>
                  <a:spLocks noChangeArrowheads="1"/>
                </p:cNvSpPr>
                <p:nvPr/>
              </p:nvSpPr>
              <p:spPr bwMode="auto">
                <a:xfrm>
                  <a:off x="336" y="3120"/>
                  <a:ext cx="2544" cy="480"/>
                </a:xfrm>
                <a:prstGeom prst="rect">
                  <a:avLst/>
                </a:prstGeom>
                <a:solidFill>
                  <a:srgbClr val="C0C0C0"/>
                </a:solidFill>
                <a:ln w="28575">
                  <a:solidFill>
                    <a:srgbClr val="FFFFFF"/>
                  </a:solidFill>
                  <a:miter lim="800000"/>
                  <a:headEnd/>
                  <a:tailEnd type="none" w="med" len="lg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7676" name="Text Box 61"/>
              <p:cNvSpPr txBox="1">
                <a:spLocks noChangeArrowheads="1"/>
              </p:cNvSpPr>
              <p:nvPr/>
            </p:nvSpPr>
            <p:spPr bwMode="auto">
              <a:xfrm>
                <a:off x="2786634" y="4521201"/>
                <a:ext cx="48132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med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r"/>
                <a:r>
                  <a:rPr lang="en-US" sz="1200" b="1">
                    <a:solidFill>
                      <a:srgbClr val="B2B2B2"/>
                    </a:solidFill>
                    <a:latin typeface="Arial Narrow" pitchFamily="34" charset="0"/>
                  </a:rPr>
                  <a:t>0.0</a:t>
                </a:r>
              </a:p>
            </p:txBody>
          </p:sp>
          <p:sp>
            <p:nvSpPr>
              <p:cNvPr id="27677" name="Text Box 62"/>
              <p:cNvSpPr txBox="1">
                <a:spLocks noChangeArrowheads="1"/>
              </p:cNvSpPr>
              <p:nvPr/>
            </p:nvSpPr>
            <p:spPr bwMode="auto">
              <a:xfrm>
                <a:off x="5976343" y="4521201"/>
                <a:ext cx="48132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med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n-US" sz="1200" b="1">
                    <a:solidFill>
                      <a:srgbClr val="B2B2B2"/>
                    </a:solidFill>
                    <a:latin typeface="Arial Narrow" pitchFamily="34" charset="0"/>
                  </a:rPr>
                  <a:t>1.0</a:t>
                </a:r>
              </a:p>
            </p:txBody>
          </p:sp>
        </p:grpSp>
        <p:grpSp>
          <p:nvGrpSpPr>
            <p:cNvPr id="27653" name="Group 71"/>
            <p:cNvGrpSpPr>
              <a:grpSpLocks/>
            </p:cNvGrpSpPr>
            <p:nvPr/>
          </p:nvGrpSpPr>
          <p:grpSpPr bwMode="auto">
            <a:xfrm>
              <a:off x="528638" y="1204913"/>
              <a:ext cx="2517775" cy="2273300"/>
              <a:chOff x="336" y="1200"/>
              <a:chExt cx="2544" cy="2400"/>
            </a:xfrm>
          </p:grpSpPr>
          <p:sp>
            <p:nvSpPr>
              <p:cNvPr id="27668" name="Rectangle 72"/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2544" cy="480"/>
              </a:xfrm>
              <a:prstGeom prst="rect">
                <a:avLst/>
              </a:prstGeom>
              <a:solidFill>
                <a:srgbClr val="C0C0C0"/>
              </a:solidFill>
              <a:ln w="28575">
                <a:solidFill>
                  <a:srgbClr val="FFFFFF"/>
                </a:solidFill>
                <a:miter lim="800000"/>
                <a:headEnd/>
                <a:tailEnd type="none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9" name="Rectangle 73"/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2544" cy="480"/>
              </a:xfrm>
              <a:prstGeom prst="rect">
                <a:avLst/>
              </a:prstGeom>
              <a:solidFill>
                <a:srgbClr val="C0C0C0"/>
              </a:solidFill>
              <a:ln w="28575">
                <a:solidFill>
                  <a:srgbClr val="FFFFFF"/>
                </a:solidFill>
                <a:miter lim="800000"/>
                <a:headEnd/>
                <a:tailEnd type="none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0" name="Rectangle 74"/>
              <p:cNvSpPr>
                <a:spLocks noChangeArrowheads="1"/>
              </p:cNvSpPr>
              <p:nvPr/>
            </p:nvSpPr>
            <p:spPr bwMode="auto">
              <a:xfrm>
                <a:off x="336" y="2160"/>
                <a:ext cx="2544" cy="480"/>
              </a:xfrm>
              <a:prstGeom prst="rect">
                <a:avLst/>
              </a:prstGeom>
              <a:solidFill>
                <a:srgbClr val="C0C0C0"/>
              </a:solidFill>
              <a:ln w="28575">
                <a:solidFill>
                  <a:srgbClr val="FFFFFF"/>
                </a:solidFill>
                <a:miter lim="800000"/>
                <a:headEnd/>
                <a:tailEnd type="none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1" name="Rectangle 75"/>
              <p:cNvSpPr>
                <a:spLocks noChangeArrowheads="1"/>
              </p:cNvSpPr>
              <p:nvPr/>
            </p:nvSpPr>
            <p:spPr bwMode="auto">
              <a:xfrm>
                <a:off x="336" y="2640"/>
                <a:ext cx="2544" cy="480"/>
              </a:xfrm>
              <a:prstGeom prst="rect">
                <a:avLst/>
              </a:prstGeom>
              <a:solidFill>
                <a:srgbClr val="C0C0C0"/>
              </a:solidFill>
              <a:ln w="28575">
                <a:solidFill>
                  <a:srgbClr val="FFFFFF"/>
                </a:solidFill>
                <a:miter lim="800000"/>
                <a:headEnd/>
                <a:tailEnd type="none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2" name="Rectangle 76"/>
              <p:cNvSpPr>
                <a:spLocks noChangeArrowheads="1"/>
              </p:cNvSpPr>
              <p:nvPr/>
            </p:nvSpPr>
            <p:spPr bwMode="auto">
              <a:xfrm>
                <a:off x="336" y="3120"/>
                <a:ext cx="2544" cy="480"/>
              </a:xfrm>
              <a:prstGeom prst="rect">
                <a:avLst/>
              </a:prstGeom>
              <a:solidFill>
                <a:srgbClr val="C0C0C0"/>
              </a:solidFill>
              <a:ln w="28575">
                <a:solidFill>
                  <a:srgbClr val="FFFFFF"/>
                </a:solidFill>
                <a:miter lim="800000"/>
                <a:headEnd/>
                <a:tailEnd type="none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654" name="Group 71"/>
            <p:cNvGrpSpPr>
              <a:grpSpLocks/>
            </p:cNvGrpSpPr>
            <p:nvPr/>
          </p:nvGrpSpPr>
          <p:grpSpPr bwMode="auto">
            <a:xfrm>
              <a:off x="6148388" y="1204913"/>
              <a:ext cx="2517775" cy="2273300"/>
              <a:chOff x="336" y="1200"/>
              <a:chExt cx="2544" cy="2400"/>
            </a:xfrm>
          </p:grpSpPr>
          <p:sp>
            <p:nvSpPr>
              <p:cNvPr id="27663" name="Rectangle 72"/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2544" cy="480"/>
              </a:xfrm>
              <a:prstGeom prst="rect">
                <a:avLst/>
              </a:prstGeom>
              <a:solidFill>
                <a:srgbClr val="C0C0C0"/>
              </a:solidFill>
              <a:ln w="28575">
                <a:solidFill>
                  <a:srgbClr val="FFFFFF"/>
                </a:solidFill>
                <a:miter lim="800000"/>
                <a:headEnd/>
                <a:tailEnd type="none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4" name="Rectangle 73"/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2544" cy="480"/>
              </a:xfrm>
              <a:prstGeom prst="rect">
                <a:avLst/>
              </a:prstGeom>
              <a:solidFill>
                <a:srgbClr val="C0C0C0"/>
              </a:solidFill>
              <a:ln w="28575">
                <a:solidFill>
                  <a:srgbClr val="FFFFFF"/>
                </a:solidFill>
                <a:miter lim="800000"/>
                <a:headEnd/>
                <a:tailEnd type="none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5" name="Rectangle 74"/>
              <p:cNvSpPr>
                <a:spLocks noChangeArrowheads="1"/>
              </p:cNvSpPr>
              <p:nvPr/>
            </p:nvSpPr>
            <p:spPr bwMode="auto">
              <a:xfrm>
                <a:off x="336" y="2160"/>
                <a:ext cx="2544" cy="480"/>
              </a:xfrm>
              <a:prstGeom prst="rect">
                <a:avLst/>
              </a:prstGeom>
              <a:solidFill>
                <a:srgbClr val="C0C0C0"/>
              </a:solidFill>
              <a:ln w="28575">
                <a:solidFill>
                  <a:srgbClr val="FFFFFF"/>
                </a:solidFill>
                <a:miter lim="800000"/>
                <a:headEnd/>
                <a:tailEnd type="none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6" name="Rectangle 75"/>
              <p:cNvSpPr>
                <a:spLocks noChangeArrowheads="1"/>
              </p:cNvSpPr>
              <p:nvPr/>
            </p:nvSpPr>
            <p:spPr bwMode="auto">
              <a:xfrm>
                <a:off x="336" y="2640"/>
                <a:ext cx="2544" cy="480"/>
              </a:xfrm>
              <a:prstGeom prst="rect">
                <a:avLst/>
              </a:prstGeom>
              <a:solidFill>
                <a:srgbClr val="C0C0C0"/>
              </a:solidFill>
              <a:ln w="28575">
                <a:solidFill>
                  <a:srgbClr val="FFFFFF"/>
                </a:solidFill>
                <a:miter lim="800000"/>
                <a:headEnd/>
                <a:tailEnd type="none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7" name="Rectangle 76"/>
              <p:cNvSpPr>
                <a:spLocks noChangeArrowheads="1"/>
              </p:cNvSpPr>
              <p:nvPr/>
            </p:nvSpPr>
            <p:spPr bwMode="auto">
              <a:xfrm>
                <a:off x="336" y="3120"/>
                <a:ext cx="2544" cy="480"/>
              </a:xfrm>
              <a:prstGeom prst="rect">
                <a:avLst/>
              </a:prstGeom>
              <a:solidFill>
                <a:srgbClr val="C0C0C0"/>
              </a:solidFill>
              <a:ln w="28575">
                <a:solidFill>
                  <a:srgbClr val="FFFFFF"/>
                </a:solidFill>
                <a:miter lim="800000"/>
                <a:headEnd/>
                <a:tailEnd type="none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7657" name="Freeform 19"/>
            <p:cNvSpPr>
              <a:spLocks/>
            </p:cNvSpPr>
            <p:nvPr/>
          </p:nvSpPr>
          <p:spPr bwMode="auto">
            <a:xfrm>
              <a:off x="3419475" y="1287463"/>
              <a:ext cx="2339975" cy="2090737"/>
            </a:xfrm>
            <a:custGeom>
              <a:avLst/>
              <a:gdLst>
                <a:gd name="T0" fmla="*/ 0 w 1571"/>
                <a:gd name="T1" fmla="*/ 2147483647 h 1394"/>
                <a:gd name="T2" fmla="*/ 2147483647 w 1571"/>
                <a:gd name="T3" fmla="*/ 0 h 1394"/>
                <a:gd name="T4" fmla="*/ 2147483647 w 1571"/>
                <a:gd name="T5" fmla="*/ 2147483647 h 1394"/>
                <a:gd name="T6" fmla="*/ 0 w 1571"/>
                <a:gd name="T7" fmla="*/ 2147483647 h 13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71"/>
                <a:gd name="T13" fmla="*/ 0 h 1394"/>
                <a:gd name="T14" fmla="*/ 1571 w 1571"/>
                <a:gd name="T15" fmla="*/ 1394 h 13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71" h="1394">
                  <a:moveTo>
                    <a:pt x="0" y="1394"/>
                  </a:moveTo>
                  <a:lnTo>
                    <a:pt x="1562" y="0"/>
                  </a:lnTo>
                  <a:lnTo>
                    <a:pt x="1571" y="1392"/>
                  </a:lnTo>
                  <a:lnTo>
                    <a:pt x="0" y="1394"/>
                  </a:lnTo>
                  <a:close/>
                </a:path>
              </a:pathLst>
            </a:custGeom>
            <a:solidFill>
              <a:srgbClr val="6666FF"/>
            </a:solidFill>
            <a:ln w="28575">
              <a:solidFill>
                <a:srgbClr val="66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59" name="Freeform 19"/>
            <p:cNvSpPr>
              <a:spLocks/>
            </p:cNvSpPr>
            <p:nvPr/>
          </p:nvSpPr>
          <p:spPr bwMode="auto">
            <a:xfrm>
              <a:off x="609600" y="1293813"/>
              <a:ext cx="2339975" cy="2090737"/>
            </a:xfrm>
            <a:custGeom>
              <a:avLst/>
              <a:gdLst>
                <a:gd name="T0" fmla="*/ 0 w 1571"/>
                <a:gd name="T1" fmla="*/ 2147483647 h 1394"/>
                <a:gd name="T2" fmla="*/ 2147483647 w 1571"/>
                <a:gd name="T3" fmla="*/ 0 h 1394"/>
                <a:gd name="T4" fmla="*/ 2147483647 w 1571"/>
                <a:gd name="T5" fmla="*/ 2147483647 h 1394"/>
                <a:gd name="T6" fmla="*/ 0 w 1571"/>
                <a:gd name="T7" fmla="*/ 2147483647 h 13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71"/>
                <a:gd name="T13" fmla="*/ 0 h 1394"/>
                <a:gd name="T14" fmla="*/ 1571 w 1571"/>
                <a:gd name="T15" fmla="*/ 1394 h 13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71" h="1394">
                  <a:moveTo>
                    <a:pt x="0" y="1394"/>
                  </a:moveTo>
                  <a:lnTo>
                    <a:pt x="1562" y="0"/>
                  </a:lnTo>
                  <a:lnTo>
                    <a:pt x="1571" y="1392"/>
                  </a:lnTo>
                  <a:lnTo>
                    <a:pt x="0" y="1394"/>
                  </a:lnTo>
                  <a:close/>
                </a:path>
              </a:pathLst>
            </a:custGeom>
            <a:solidFill>
              <a:srgbClr val="6666FF"/>
            </a:solidFill>
            <a:ln w="28575">
              <a:solidFill>
                <a:srgbClr val="66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61" name="Freeform 19"/>
            <p:cNvSpPr>
              <a:spLocks/>
            </p:cNvSpPr>
            <p:nvPr/>
          </p:nvSpPr>
          <p:spPr bwMode="auto">
            <a:xfrm>
              <a:off x="6224588" y="1292225"/>
              <a:ext cx="2339975" cy="2090738"/>
            </a:xfrm>
            <a:custGeom>
              <a:avLst/>
              <a:gdLst>
                <a:gd name="T0" fmla="*/ 0 w 1571"/>
                <a:gd name="T1" fmla="*/ 2147483647 h 1394"/>
                <a:gd name="T2" fmla="*/ 2147483647 w 1571"/>
                <a:gd name="T3" fmla="*/ 0 h 1394"/>
                <a:gd name="T4" fmla="*/ 2147483647 w 1571"/>
                <a:gd name="T5" fmla="*/ 2147483647 h 1394"/>
                <a:gd name="T6" fmla="*/ 0 w 1571"/>
                <a:gd name="T7" fmla="*/ 2147483647 h 13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71"/>
                <a:gd name="T13" fmla="*/ 0 h 1394"/>
                <a:gd name="T14" fmla="*/ 1571 w 1571"/>
                <a:gd name="T15" fmla="*/ 1394 h 13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71" h="1394">
                  <a:moveTo>
                    <a:pt x="0" y="1394"/>
                  </a:moveTo>
                  <a:lnTo>
                    <a:pt x="1562" y="0"/>
                  </a:lnTo>
                  <a:lnTo>
                    <a:pt x="1571" y="1392"/>
                  </a:lnTo>
                  <a:lnTo>
                    <a:pt x="0" y="1394"/>
                  </a:lnTo>
                  <a:close/>
                </a:path>
              </a:pathLst>
            </a:custGeom>
            <a:solidFill>
              <a:srgbClr val="6666FF"/>
            </a:solidFill>
            <a:ln w="28575">
              <a:solidFill>
                <a:srgbClr val="66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662" name="Freeform 94"/>
          <p:cNvSpPr>
            <a:spLocks noChangeArrowheads="1"/>
          </p:cNvSpPr>
          <p:nvPr/>
        </p:nvSpPr>
        <p:spPr bwMode="auto">
          <a:xfrm>
            <a:off x="6799672" y="2857579"/>
            <a:ext cx="2079855" cy="1598027"/>
          </a:xfrm>
          <a:custGeom>
            <a:avLst/>
            <a:gdLst>
              <a:gd name="T0" fmla="*/ 2147483647 w 1841500"/>
              <a:gd name="T1" fmla="*/ 0 h 1187450"/>
              <a:gd name="T2" fmla="*/ 2147483647 w 1841500"/>
              <a:gd name="T3" fmla="*/ 2147483647 h 1187450"/>
              <a:gd name="T4" fmla="*/ 0 w 1841500"/>
              <a:gd name="T5" fmla="*/ 2147483647 h 1187450"/>
              <a:gd name="T6" fmla="*/ 0 60000 65536"/>
              <a:gd name="T7" fmla="*/ 0 60000 65536"/>
              <a:gd name="T8" fmla="*/ 0 60000 65536"/>
              <a:gd name="T9" fmla="*/ 0 w 1841500"/>
              <a:gd name="T10" fmla="*/ 0 h 1187450"/>
              <a:gd name="T11" fmla="*/ 1841500 w 1841500"/>
              <a:gd name="T12" fmla="*/ 1187450 h 11874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41500" h="1187450">
                <a:moveTo>
                  <a:pt x="1841500" y="0"/>
                </a:moveTo>
                <a:cubicBezTo>
                  <a:pt x="1495150" y="18998"/>
                  <a:pt x="822531" y="7892"/>
                  <a:pt x="420648" y="281679"/>
                </a:cubicBezTo>
                <a:cubicBezTo>
                  <a:pt x="183835" y="427828"/>
                  <a:pt x="26743" y="1065294"/>
                  <a:pt x="0" y="1187450"/>
                </a:cubicBezTo>
              </a:path>
            </a:pathLst>
          </a:custGeom>
          <a:solidFill>
            <a:srgbClr val="6666FF"/>
          </a:solidFill>
          <a:ln w="38100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0" name="Freeform 76"/>
          <p:cNvSpPr>
            <a:spLocks noChangeArrowheads="1"/>
          </p:cNvSpPr>
          <p:nvPr/>
        </p:nvSpPr>
        <p:spPr bwMode="auto">
          <a:xfrm>
            <a:off x="1798323" y="2878682"/>
            <a:ext cx="2100943" cy="1601676"/>
          </a:xfrm>
          <a:custGeom>
            <a:avLst/>
            <a:gdLst>
              <a:gd name="T0" fmla="*/ 2147483647 w 1841500"/>
              <a:gd name="T1" fmla="*/ 0 h 1187450"/>
              <a:gd name="T2" fmla="*/ 2147483647 w 1841500"/>
              <a:gd name="T3" fmla="*/ 2147483647 h 1187450"/>
              <a:gd name="T4" fmla="*/ 0 w 1841500"/>
              <a:gd name="T5" fmla="*/ 2147483647 h 1187450"/>
              <a:gd name="T6" fmla="*/ 0 60000 65536"/>
              <a:gd name="T7" fmla="*/ 0 60000 65536"/>
              <a:gd name="T8" fmla="*/ 0 60000 65536"/>
              <a:gd name="T9" fmla="*/ 0 w 1841500"/>
              <a:gd name="T10" fmla="*/ 0 h 1187450"/>
              <a:gd name="T11" fmla="*/ 1841500 w 1841500"/>
              <a:gd name="T12" fmla="*/ 1187450 h 11874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41500" h="1187450">
                <a:moveTo>
                  <a:pt x="1841500" y="0"/>
                </a:moveTo>
                <a:cubicBezTo>
                  <a:pt x="1648354" y="97896"/>
                  <a:pt x="1153524" y="343627"/>
                  <a:pt x="846607" y="541535"/>
                </a:cubicBezTo>
                <a:cubicBezTo>
                  <a:pt x="539690" y="739443"/>
                  <a:pt x="190500" y="1037961"/>
                  <a:pt x="0" y="1187450"/>
                </a:cubicBezTo>
              </a:path>
            </a:pathLst>
          </a:custGeom>
          <a:solidFill>
            <a:srgbClr val="6666FF"/>
          </a:solidFill>
          <a:ln w="38100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8" name="Freeform 47"/>
          <p:cNvSpPr>
            <a:spLocks noChangeArrowheads="1"/>
          </p:cNvSpPr>
          <p:nvPr/>
        </p:nvSpPr>
        <p:spPr bwMode="auto">
          <a:xfrm>
            <a:off x="4346960" y="2865624"/>
            <a:ext cx="2041437" cy="1589982"/>
          </a:xfrm>
          <a:custGeom>
            <a:avLst/>
            <a:gdLst>
              <a:gd name="T0" fmla="*/ 2365402 w 2375064"/>
              <a:gd name="T1" fmla="*/ 0 h 2125683"/>
              <a:gd name="T2" fmla="*/ 1750397 w 2375064"/>
              <a:gd name="T3" fmla="*/ 278893 h 2125683"/>
              <a:gd name="T4" fmla="*/ 1247765 w 2375064"/>
              <a:gd name="T5" fmla="*/ 593421 h 2125683"/>
              <a:gd name="T6" fmla="*/ 739198 w 2375064"/>
              <a:gd name="T7" fmla="*/ 991009 h 2125683"/>
              <a:gd name="T8" fmla="*/ 437617 w 2375064"/>
              <a:gd name="T9" fmla="*/ 1287752 h 2125683"/>
              <a:gd name="T10" fmla="*/ 230624 w 2375064"/>
              <a:gd name="T11" fmla="*/ 1554793 h 2125683"/>
              <a:gd name="T12" fmla="*/ 82773 w 2375064"/>
              <a:gd name="T13" fmla="*/ 1881173 h 2125683"/>
              <a:gd name="T14" fmla="*/ 0 w 2375064"/>
              <a:gd name="T15" fmla="*/ 2124487 h 212568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375064"/>
              <a:gd name="T25" fmla="*/ 0 h 2125683"/>
              <a:gd name="T26" fmla="*/ 2375064 w 2375064"/>
              <a:gd name="T27" fmla="*/ 2125683 h 212568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375064" h="2125683">
                <a:moveTo>
                  <a:pt x="2375064" y="0"/>
                </a:moveTo>
                <a:cubicBezTo>
                  <a:pt x="2159824" y="90054"/>
                  <a:pt x="1944584" y="180109"/>
                  <a:pt x="1757548" y="279070"/>
                </a:cubicBezTo>
                <a:cubicBezTo>
                  <a:pt x="1570512" y="378031"/>
                  <a:pt x="1422069" y="475013"/>
                  <a:pt x="1252846" y="593766"/>
                </a:cubicBezTo>
                <a:cubicBezTo>
                  <a:pt x="1083623" y="712519"/>
                  <a:pt x="877783" y="875806"/>
                  <a:pt x="742207" y="991590"/>
                </a:cubicBezTo>
                <a:cubicBezTo>
                  <a:pt x="606631" y="1107374"/>
                  <a:pt x="524493" y="1194460"/>
                  <a:pt x="439387" y="1288473"/>
                </a:cubicBezTo>
                <a:cubicBezTo>
                  <a:pt x="354281" y="1382486"/>
                  <a:pt x="290945" y="1456707"/>
                  <a:pt x="231568" y="1555668"/>
                </a:cubicBezTo>
                <a:cubicBezTo>
                  <a:pt x="172191" y="1654629"/>
                  <a:pt x="121722" y="1787237"/>
                  <a:pt x="83127" y="1882239"/>
                </a:cubicBezTo>
                <a:cubicBezTo>
                  <a:pt x="44532" y="1977241"/>
                  <a:pt x="22266" y="2051462"/>
                  <a:pt x="0" y="2125683"/>
                </a:cubicBezTo>
              </a:path>
            </a:pathLst>
          </a:custGeom>
          <a:solidFill>
            <a:srgbClr val="6666FF"/>
          </a:solidFill>
          <a:ln w="38100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329008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Z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value of</a:t>
            </a:r>
            <a:r>
              <a:rPr lang="en-US" i="1" dirty="0">
                <a:latin typeface="+mj-lt"/>
              </a:rPr>
              <a:t> Z</a:t>
            </a:r>
            <a:r>
              <a:rPr lang="en-US" dirty="0"/>
              <a:t> can be based on </a:t>
            </a:r>
          </a:p>
          <a:p>
            <a:pPr lvl="1"/>
            <a:r>
              <a:rPr lang="en-US" dirty="0"/>
              <a:t>The expected profit from a loan that is good, </a:t>
            </a:r>
            <a:r>
              <a:rPr lang="en-US" i="1" dirty="0">
                <a:latin typeface="+mj-lt"/>
              </a:rPr>
              <a:t>P</a:t>
            </a:r>
          </a:p>
          <a:p>
            <a:pPr lvl="1"/>
            <a:r>
              <a:rPr lang="en-US" dirty="0"/>
              <a:t>The expected loss from a loan that defaults, </a:t>
            </a:r>
            <a:r>
              <a:rPr lang="en-US" i="1" dirty="0">
                <a:latin typeface="+mj-lt"/>
              </a:rPr>
              <a:t>L</a:t>
            </a:r>
            <a:endParaRPr lang="en-CA" i="1" dirty="0">
              <a:latin typeface="+mj-lt"/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need to maximize </a:t>
            </a:r>
            <a:r>
              <a:rPr lang="en-US" i="1" dirty="0">
                <a:latin typeface="+mj-lt"/>
              </a:rPr>
              <a:t>P×</a:t>
            </a:r>
            <a:r>
              <a:rPr lang="en-US" dirty="0">
                <a:latin typeface="+mj-lt"/>
              </a:rPr>
              <a:t>TP</a:t>
            </a:r>
            <a:r>
              <a:rPr lang="en-US" i="1" dirty="0">
                <a:latin typeface="+mj-lt"/>
              </a:rPr>
              <a:t>−L×</a:t>
            </a:r>
            <a:r>
              <a:rPr lang="en-US" dirty="0">
                <a:latin typeface="+mj-lt"/>
              </a:rPr>
              <a:t>FP</a:t>
            </a:r>
          </a:p>
          <a:p>
            <a:pPr lvl="1"/>
            <a:endParaRPr lang="en-US" i="1" dirty="0">
              <a:latin typeface="+mj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Business,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9762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Questions with solid fill">
            <a:extLst>
              <a:ext uri="{FF2B5EF4-FFF2-40B4-BE49-F238E27FC236}">
                <a16:creationId xmlns:a16="http://schemas.microsoft.com/office/drawing/2014/main" id="{974FACF5-D7E5-38DE-BE8D-F13F6AAB1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0811" y="1484784"/>
            <a:ext cx="3502377" cy="35023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A13485-5351-E225-CD93-86A5BBE7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000" y="5462939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2435DD8-BC4F-4C8E-9390-DF43692AEB8E}" type="slidenum">
              <a:rPr lang="en-CA" smtClean="0"/>
              <a:pPr>
                <a:spcAft>
                  <a:spcPts val="600"/>
                </a:spcAft>
              </a:pPr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5285825"/>
      </p:ext>
    </p:extLst>
  </p:cSld>
  <p:clrMapOvr>
    <a:masterClrMapping/>
  </p:clrMapOvr>
</p:sld>
</file>

<file path=ppt/theme/theme1.xml><?xml version="1.0" encoding="utf-8"?>
<a:theme xmlns:a="http://schemas.openxmlformats.org/drawingml/2006/main" name="FIU">
  <a:themeElements>
    <a:clrScheme name="Custom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71F3E"/>
      </a:accent1>
      <a:accent2>
        <a:srgbClr val="C4960B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U" id="{BA563A15-D795-48B3-B708-19D537B0F75D}" vid="{4CCCEB0E-FBAA-4217-86E9-0904380A8CD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FIU</Template>
  <TotalTime>4790</TotalTime>
  <Words>1326</Words>
  <Application>Microsoft Macintosh PowerPoint</Application>
  <PresentationFormat>On-screen Show (4:3)</PresentationFormat>
  <Paragraphs>256</Paragraphs>
  <Slides>23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Arial</vt:lpstr>
      <vt:lpstr>Arial Narrow</vt:lpstr>
      <vt:lpstr>Calibri</vt:lpstr>
      <vt:lpstr>Cambria Math</vt:lpstr>
      <vt:lpstr>Courier New</vt:lpstr>
      <vt:lpstr>Franklin Gothic Book</vt:lpstr>
      <vt:lpstr>Noto Sans Symbols</vt:lpstr>
      <vt:lpstr>Perpetua</vt:lpstr>
      <vt:lpstr>Times New Roman</vt:lpstr>
      <vt:lpstr>FIU</vt:lpstr>
      <vt:lpstr>Document</vt:lpstr>
      <vt:lpstr>Equation</vt:lpstr>
      <vt:lpstr>  ISM6642 – Machine Learning for Business Applications    </vt:lpstr>
      <vt:lpstr>An Overview of Classification</vt:lpstr>
      <vt:lpstr>Logistic Regression</vt:lpstr>
      <vt:lpstr>Logistic Regression</vt:lpstr>
      <vt:lpstr>Logistic Regression</vt:lpstr>
      <vt:lpstr>Logistic Regression</vt:lpstr>
      <vt:lpstr>The Odds</vt:lpstr>
      <vt:lpstr>We can also relate the Odds to the predictors:</vt:lpstr>
      <vt:lpstr>Interpreting Odds, Probability</vt:lpstr>
      <vt:lpstr>Lending Club Case Study</vt:lpstr>
      <vt:lpstr>The Data</vt:lpstr>
      <vt:lpstr>Results for Lending Club Training Set (Unscaled data)</vt:lpstr>
      <vt:lpstr>Decision Criterion</vt:lpstr>
      <vt:lpstr>CONFUSION MATRIX</vt:lpstr>
      <vt:lpstr>The Confusion matrix and common ratios</vt:lpstr>
      <vt:lpstr>Test Set Results</vt:lpstr>
      <vt:lpstr>Test Set Ratios for different Z values</vt:lpstr>
      <vt:lpstr>As we change the Z criterion we get an ROC curve (receiver operating characteristics) curve, </vt:lpstr>
      <vt:lpstr>Area Under Curve (AUC)</vt:lpstr>
      <vt:lpstr>Statistical Graphics – ROC Chart</vt:lpstr>
      <vt:lpstr>Statistical Graphics – AUC</vt:lpstr>
      <vt:lpstr>Choosing Z</vt:lpstr>
      <vt:lpstr>PowerPoint Presentation</vt:lpstr>
    </vt:vector>
  </TitlesOfParts>
  <Company>Joseph L. Rotman School of Management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>Machine Learning in Business</dc:subject>
  <dc:creator>hull</dc:creator>
  <cp:keywords>Chapter 1</cp:keywords>
  <dc:description>Copyright 2019 by John C. Hull. All Rights Reserved. Published 2019</dc:description>
  <cp:lastModifiedBy>Hemang Subramanian</cp:lastModifiedBy>
  <cp:revision>53</cp:revision>
  <cp:lastPrinted>2021-11-29T17:49:30Z</cp:lastPrinted>
  <dcterms:created xsi:type="dcterms:W3CDTF">2019-07-16T00:32:32Z</dcterms:created>
  <dcterms:modified xsi:type="dcterms:W3CDTF">2025-07-05T06:43:19Z</dcterms:modified>
</cp:coreProperties>
</file>